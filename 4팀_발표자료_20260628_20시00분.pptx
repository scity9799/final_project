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120" r:id="rId2"/>
    <p:sldId id="2121" r:id="rId3"/>
    <p:sldId id="2122" r:id="rId4"/>
    <p:sldId id="2123" r:id="rId5"/>
    <p:sldId id="2124" r:id="rId6"/>
    <p:sldId id="2125" r:id="rId7"/>
    <p:sldId id="2126" r:id="rId8"/>
    <p:sldId id="2127" r:id="rId9"/>
    <p:sldId id="2128" r:id="rId10"/>
    <p:sldId id="2129" r:id="rId11"/>
    <p:sldId id="2130" r:id="rId12"/>
    <p:sldId id="2131" r:id="rId13"/>
    <p:sldId id="2132" r:id="rId14"/>
    <p:sldId id="2133" r:id="rId15"/>
    <p:sldId id="2134" r:id="rId16"/>
    <p:sldId id="2135" r:id="rId17"/>
    <p:sldId id="2136" r:id="rId18"/>
    <p:sldId id="2137" r:id="rId19"/>
    <p:sldId id="2138" r:id="rId20"/>
    <p:sldId id="2139" r:id="rId21"/>
    <p:sldId id="2140" r:id="rId22"/>
    <p:sldId id="2141" r:id="rId23"/>
    <p:sldId id="2142" r:id="rId24"/>
    <p:sldId id="2143" r:id="rId25"/>
    <p:sldId id="2144" r:id="rId26"/>
    <p:sldId id="2145" r:id="rId27"/>
    <p:sldId id="2146" r:id="rId28"/>
    <p:sldId id="2147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E54"/>
    <a:srgbClr val="161C2A"/>
    <a:srgbClr val="171C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E40B4-DF31-DB24-FAFB-F97C9025EFB3}" v="386" dt="2026-06-28T12:04:33.363"/>
    <p1510:client id="{A913D7CE-6D99-B81A-D065-C24D8D56F90E}" v="1938" dt="2026-06-28T06:51:16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DDDBC-918E-4E4B-BB74-C697FC74A84D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6F654-23F7-4163-9C53-2185D30AE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6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8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55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8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37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538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733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96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77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92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69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11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63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FFCA9-CE21-DA8B-E611-26B2B097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5865B3B-0892-7180-2B8C-312DD62A3672}"/>
              </a:ext>
            </a:extLst>
          </p:cNvPr>
          <p:cNvSpPr/>
          <p:nvPr/>
        </p:nvSpPr>
        <p:spPr>
          <a:xfrm>
            <a:off x="2652325" y="1967252"/>
            <a:ext cx="6908166" cy="2458244"/>
          </a:xfrm>
          <a:prstGeom prst="roundRect">
            <a:avLst>
              <a:gd name="adj" fmla="val 12534"/>
            </a:avLst>
          </a:prstGeom>
          <a:noFill/>
          <a:ln w="403225">
            <a:solidFill>
              <a:schemeClr val="bg1"/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CE2ED8A-CDE1-509F-1DE6-40213612D46C}"/>
              </a:ext>
            </a:extLst>
          </p:cNvPr>
          <p:cNvCxnSpPr/>
          <p:nvPr/>
        </p:nvCxnSpPr>
        <p:spPr>
          <a:xfrm>
            <a:off x="4140200" y="1971183"/>
            <a:ext cx="288000" cy="0"/>
          </a:xfrm>
          <a:prstGeom prst="line">
            <a:avLst/>
          </a:prstGeom>
          <a:ln w="238125" cap="rnd"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matte">
            <a:bevelT w="4000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2B161A-5389-E658-BDF9-F28F1E2F1839}"/>
              </a:ext>
            </a:extLst>
          </p:cNvPr>
          <p:cNvSpPr txBox="1"/>
          <p:nvPr/>
        </p:nvSpPr>
        <p:spPr>
          <a:xfrm>
            <a:off x="3048000" y="278284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Security Report.</a:t>
            </a:r>
            <a:endParaRPr lang="ko-KR" altLang="en-US" sz="3600" spc="-300" dirty="0">
              <a:solidFill>
                <a:schemeClr val="bg1"/>
              </a:solidFill>
            </a:endParaRPr>
          </a:p>
          <a:p>
            <a:pPr algn="ctr"/>
            <a:r>
              <a:rPr lang="ko-KR" altLang="ko-KR" sz="1000" dirty="0" err="1">
                <a:solidFill>
                  <a:schemeClr val="bg1"/>
                </a:solidFill>
                <a:latin typeface="Cambria Math" panose="02040503050406030204" pitchFamily="18" charset="0"/>
              </a:rPr>
              <a:t>유기견</a:t>
            </a:r>
            <a:r>
              <a:rPr lang="ko-KR" altLang="ko-KR" sz="1000" dirty="0">
                <a:solidFill>
                  <a:schemeClr val="bg1"/>
                </a:solidFill>
                <a:latin typeface="Cambria Math" panose="02040503050406030204" pitchFamily="18" charset="0"/>
              </a:rPr>
              <a:t> 성향 분석 기반 추천 플랫폼 구축 및 정보보호 체계 강화 사업</a:t>
            </a:r>
            <a:endParaRPr lang="ko-KR" altLang="en-US" sz="1000" dirty="0">
              <a:solidFill>
                <a:schemeClr val="bg1"/>
              </a:solidFill>
              <a:latin typeface="Cambria Math" panose="02040503050406030204" pitchFamily="18" charset="0"/>
              <a:ea typeface="Noto Sans KR" panose="020B0200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2727DB4-663F-81B7-B065-5C863B08FA3B}"/>
              </a:ext>
            </a:extLst>
          </p:cNvPr>
          <p:cNvGrpSpPr/>
          <p:nvPr/>
        </p:nvGrpSpPr>
        <p:grpSpPr>
          <a:xfrm>
            <a:off x="9395072" y="1985697"/>
            <a:ext cx="219074" cy="219074"/>
            <a:chOff x="9523433" y="2485729"/>
            <a:chExt cx="219074" cy="21907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1DCBA42-CCCE-5BE9-0AA3-5D13BC8F545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2F61FCB-0DE4-E486-C9B0-E6E7C899B13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D928685-8A60-33DB-C70C-60BEFF115331}"/>
              </a:ext>
            </a:extLst>
          </p:cNvPr>
          <p:cNvGrpSpPr/>
          <p:nvPr/>
        </p:nvGrpSpPr>
        <p:grpSpPr>
          <a:xfrm>
            <a:off x="9395072" y="4138347"/>
            <a:ext cx="219074" cy="219074"/>
            <a:chOff x="9523433" y="2485729"/>
            <a:chExt cx="219074" cy="219074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F52842A-106C-0EC2-9E5F-361845B03D72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28CE78C-B5E2-5AE8-DBD4-6654609B29B4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3924A38-D98A-4694-B001-D89C6FF0A186}"/>
              </a:ext>
            </a:extLst>
          </p:cNvPr>
          <p:cNvGrpSpPr/>
          <p:nvPr/>
        </p:nvGrpSpPr>
        <p:grpSpPr>
          <a:xfrm>
            <a:off x="2594269" y="1985697"/>
            <a:ext cx="219074" cy="219074"/>
            <a:chOff x="9523433" y="2485729"/>
            <a:chExt cx="219074" cy="219074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1EB0D459-352D-5BB6-024E-914018E1687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FB6E7CB-211F-3F21-ABE4-60E1D1AFBCFC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1847692-026E-8978-361A-A60730C74BFE}"/>
              </a:ext>
            </a:extLst>
          </p:cNvPr>
          <p:cNvGrpSpPr/>
          <p:nvPr/>
        </p:nvGrpSpPr>
        <p:grpSpPr>
          <a:xfrm>
            <a:off x="2594269" y="4138347"/>
            <a:ext cx="219074" cy="219074"/>
            <a:chOff x="9523433" y="2485729"/>
            <a:chExt cx="219074" cy="219074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9E7154D-EEA2-30DA-B49B-2FBE1C40DB93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484DC83-B2F6-CA2E-3C92-46936737678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186" y="584986"/>
            <a:ext cx="1148711" cy="11487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CA1078-A1FE-7CCB-7523-9A0FAEA89BBE}"/>
              </a:ext>
            </a:extLst>
          </p:cNvPr>
          <p:cNvSpPr txBox="1"/>
          <p:nvPr/>
        </p:nvSpPr>
        <p:spPr>
          <a:xfrm>
            <a:off x="4810125" y="5237153"/>
            <a:ext cx="2571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서서울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| </a:t>
            </a:r>
            <a:r>
              <a:rPr lang="ko-KR" altLang="en-US" sz="1100" dirty="0" err="1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윤철민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오명근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서정원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이주환</a:t>
            </a:r>
            <a:endParaRPr lang="en-US" altLang="ko-KR" sz="1100" dirty="0">
              <a:solidFill>
                <a:schemeClr val="bg1"/>
              </a:solidFill>
              <a:latin typeface="Cambria Math" panose="02040503050406030204" pitchFamily="18" charset="0"/>
              <a:ea typeface="Noto Sans KR" panose="020B0200000000000000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2F8C9AF-29B0-B963-C1CF-75D87AF23D61}"/>
              </a:ext>
            </a:extLst>
          </p:cNvPr>
          <p:cNvGrpSpPr/>
          <p:nvPr/>
        </p:nvGrpSpPr>
        <p:grpSpPr>
          <a:xfrm>
            <a:off x="8714720" y="1683574"/>
            <a:ext cx="68169" cy="611544"/>
            <a:chOff x="8714720" y="1683574"/>
            <a:chExt cx="68169" cy="611544"/>
          </a:xfrm>
        </p:grpSpPr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A2181EFF-3B98-6F00-3A34-5B134664086D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D9A187FC-FFAE-F9B1-079D-C7A5609E6F64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3691276-8BAF-1D94-CC9E-E8A7720F789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415245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4000B-55B6-73B8-20AC-EAA1E015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3FB84875-5E34-DFDD-3683-6D63A22159AB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E02A2D2-4BCB-DD49-2B78-F6F79448307C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Table Of Contents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7AC6FE-DE55-B36F-C283-04EE4617D43A}"/>
              </a:ext>
            </a:extLst>
          </p:cNvPr>
          <p:cNvGrpSpPr/>
          <p:nvPr/>
        </p:nvGrpSpPr>
        <p:grpSpPr>
          <a:xfrm>
            <a:off x="477919" y="473130"/>
            <a:ext cx="68169" cy="611544"/>
            <a:chOff x="8714720" y="1683574"/>
            <a:chExt cx="68169" cy="611544"/>
          </a:xfrm>
        </p:grpSpPr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A8325873-2948-53A4-CD8C-B58D6DE5E82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C4A21D25-AB05-34D3-0C42-E0C60B638A6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02C64BF7-5694-53A6-50E8-DC54394E37D9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BE5D09A-63BF-77FB-70BB-11D11280374B}"/>
              </a:ext>
            </a:extLst>
          </p:cNvPr>
          <p:cNvGrpSpPr/>
          <p:nvPr/>
        </p:nvGrpSpPr>
        <p:grpSpPr>
          <a:xfrm>
            <a:off x="1715662" y="2324281"/>
            <a:ext cx="1795663" cy="520417"/>
            <a:chOff x="857051" y="2430922"/>
            <a:chExt cx="1795663" cy="520417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67F21E1-4A41-119C-A607-C3F3C823FFE3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E80A375-1153-153B-7E77-465B114463DE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01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B8DEA4B-5D39-B105-15A0-646D52104978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5A7DC08-9710-082B-8588-98C826B151AC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프로젝트 배경</a:t>
              </a:r>
              <a:endPara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CA63D756-E5F6-AF1C-7B77-B2E1F35A4B45}"/>
              </a:ext>
            </a:extLst>
          </p:cNvPr>
          <p:cNvGrpSpPr/>
          <p:nvPr/>
        </p:nvGrpSpPr>
        <p:grpSpPr>
          <a:xfrm>
            <a:off x="3990039" y="2344616"/>
            <a:ext cx="1795663" cy="520417"/>
            <a:chOff x="857051" y="2430922"/>
            <a:chExt cx="1795663" cy="520417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8AD79A8B-38F5-992C-B561-FCBF5559691E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4DD1176C-76AE-95B6-A530-88C5CC99462D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02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D176A210-B73A-84D8-A191-E0B2F4A5ADF2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0D4153A-9ABF-FD28-AF27-A28EEE1468EC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분석 및 점검</a:t>
              </a:r>
              <a:endParaRPr lang="en-US" altLang="ko-KR" sz="1050" dirty="0">
                <a:solidFill>
                  <a:prstClr val="whit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EB227AF1-6744-5446-D415-57318079C713}"/>
              </a:ext>
            </a:extLst>
          </p:cNvPr>
          <p:cNvGrpSpPr/>
          <p:nvPr/>
        </p:nvGrpSpPr>
        <p:grpSpPr>
          <a:xfrm>
            <a:off x="6264416" y="2342181"/>
            <a:ext cx="1795663" cy="520417"/>
            <a:chOff x="857051" y="2430922"/>
            <a:chExt cx="1795663" cy="520417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BA2449C4-12D1-3F80-59F6-5E0AB317EACD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D2F0D772-AA62-F16E-1B4F-4ACE61C068FF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03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AC277D70-EE7B-B9B4-B0B6-26F45A814FD4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86315D4A-9D01-7FC2-4131-047040D9A3D7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개인 발표</a:t>
              </a:r>
              <a:endParaRPr lang="en-US" altLang="ko-KR" sz="1050" dirty="0">
                <a:solidFill>
                  <a:prstClr val="white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4D1C2197-EABB-0200-69EE-25C3111A30C7}"/>
              </a:ext>
            </a:extLst>
          </p:cNvPr>
          <p:cNvGrpSpPr/>
          <p:nvPr/>
        </p:nvGrpSpPr>
        <p:grpSpPr>
          <a:xfrm>
            <a:off x="8538793" y="2333979"/>
            <a:ext cx="1795663" cy="520417"/>
            <a:chOff x="857051" y="2430922"/>
            <a:chExt cx="1795663" cy="520417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3D7389E0-4776-DC9D-F16D-3DEF83770B1A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3C201D37-B081-95A2-035B-F99A61762799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b="1" dirty="0"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04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0EC505BA-4481-E6FD-42CF-BEB03868F2FF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D74FA3A2-158F-2E68-5FD6-2CFFE445B80E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en-US" altLang="ko-KR" sz="1050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Q &amp; A</a:t>
              </a:r>
            </a:p>
          </p:txBody>
        </p: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6A456EC-8964-85F4-9D22-C7BC776C6333}"/>
              </a:ext>
            </a:extLst>
          </p:cNvPr>
          <p:cNvSpPr/>
          <p:nvPr/>
        </p:nvSpPr>
        <p:spPr>
          <a:xfrm>
            <a:off x="2194377" y="3039494"/>
            <a:ext cx="1316947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추진배경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고객사 설명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시나리오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사업 목표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 툴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 기간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수행 인력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8B7C5F7-28AA-30DA-6304-B7AD530B7793}"/>
              </a:ext>
            </a:extLst>
          </p:cNvPr>
          <p:cNvSpPr/>
          <p:nvPr/>
        </p:nvSpPr>
        <p:spPr>
          <a:xfrm>
            <a:off x="4468754" y="3057862"/>
            <a:ext cx="1560571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기준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항목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자산 목록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범위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기존 고객사 인프라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개선된 인프라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50" b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/>
              </a:rPr>
              <a:t>보안 장비</a:t>
            </a:r>
            <a:endParaRPr lang="ko-KR" altLang="en-US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23D2B8F-1FD7-5162-1B58-DC0A16CA220F}"/>
              </a:ext>
            </a:extLst>
          </p:cNvPr>
          <p:cNvSpPr/>
          <p:nvPr/>
        </p:nvSpPr>
        <p:spPr>
          <a:xfrm>
            <a:off x="6743130" y="3039494"/>
            <a:ext cx="1676970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담당 업무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취약점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시나리오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보안 점검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트러블 슈팅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 후 느낀 점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1EBB5691-13FE-F7EE-2A27-488C61A3F755}"/>
              </a:ext>
            </a:extLst>
          </p:cNvPr>
          <p:cNvSpPr/>
          <p:nvPr/>
        </p:nvSpPr>
        <p:spPr>
          <a:xfrm>
            <a:off x="9017508" y="3056992"/>
            <a:ext cx="1316947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질의 응답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14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36727-88A2-1C8D-08A4-C0736039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FE8A1D6-C528-F84C-F745-704817B1D5B3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8269E9B-E5DD-5AC7-8C0E-F5C3FF4FD64F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altLang="ko-KR" sz="2000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1" name="그룹 60">
            <a:extLst>
              <a:ext uri="{FF2B5EF4-FFF2-40B4-BE49-F238E27FC236}">
                <a16:creationId xmlns:a16="http://schemas.microsoft.com/office/drawing/2014/main" id="{42DA90C4-F2F0-6C2A-9E6F-4B773519A969}"/>
              </a:ext>
            </a:extLst>
          </p:cNvPr>
          <p:cNvGrpSpPr/>
          <p:nvPr/>
        </p:nvGrpSpPr>
        <p:grpSpPr>
          <a:xfrm>
            <a:off x="4664767" y="3073254"/>
            <a:ext cx="2898320" cy="861075"/>
            <a:chOff x="857051" y="2430923"/>
            <a:chExt cx="1795663" cy="520416"/>
          </a:xfrm>
        </p:grpSpPr>
        <p:sp>
          <p:nvSpPr>
            <p:cNvPr id="3" name="타원 26">
              <a:extLst>
                <a:ext uri="{FF2B5EF4-FFF2-40B4-BE49-F238E27FC236}">
                  <a16:creationId xmlns:a16="http://schemas.microsoft.com/office/drawing/2014/main" id="{10E5237F-7CBB-0889-7053-207B7914F352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30">
              <a:extLst>
                <a:ext uri="{FF2B5EF4-FFF2-40B4-BE49-F238E27FC236}">
                  <a16:creationId xmlns:a16="http://schemas.microsoft.com/office/drawing/2014/main" id="{EB26978D-EE29-9D8F-CCF4-A9BDF9E35221}"/>
                </a:ext>
              </a:extLst>
            </p:cNvPr>
            <p:cNvSpPr/>
            <p:nvPr/>
          </p:nvSpPr>
          <p:spPr>
            <a:xfrm>
              <a:off x="857051" y="2444196"/>
              <a:ext cx="478715" cy="40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01</a:t>
              </a:r>
              <a:endParaRPr lang="en-US" altLang="ko-KR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9" name="직선 연결선 34">
              <a:extLst>
                <a:ext uri="{FF2B5EF4-FFF2-40B4-BE49-F238E27FC236}">
                  <a16:creationId xmlns:a16="http://schemas.microsoft.com/office/drawing/2014/main" id="{14870253-12D8-8483-DFC2-886146810E48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10" name="직사각형 43">
              <a:extLst>
                <a:ext uri="{FF2B5EF4-FFF2-40B4-BE49-F238E27FC236}">
                  <a16:creationId xmlns:a16="http://schemas.microsoft.com/office/drawing/2014/main" id="{8568850F-673E-DAB7-0CD1-FFE7A27D4728}"/>
                </a:ext>
              </a:extLst>
            </p:cNvPr>
            <p:cNvSpPr/>
            <p:nvPr/>
          </p:nvSpPr>
          <p:spPr>
            <a:xfrm>
              <a:off x="1335766" y="2430923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b="1" dirty="0">
                  <a:solidFill>
                    <a:prstClr val="white"/>
                  </a:solidFill>
                  <a:latin typeface="Noto Sans KR Black" panose="020B0200000000000000" pitchFamily="50" charset="-127"/>
                  <a:ea typeface="Noto Sans KR Black"/>
                </a:rPr>
                <a:t>프로젝트 배경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/>
              </a:endParaRPr>
            </a:p>
          </p:txBody>
        </p:sp>
      </p:grpSp>
      <p:grpSp>
        <p:nvGrpSpPr>
          <p:cNvPr id="16" name="그룹 4">
            <a:extLst>
              <a:ext uri="{FF2B5EF4-FFF2-40B4-BE49-F238E27FC236}">
                <a16:creationId xmlns:a16="http://schemas.microsoft.com/office/drawing/2014/main" id="{5C7C9C2C-A1FD-9FF4-338C-AF1A0F7ABBDB}"/>
              </a:ext>
            </a:extLst>
          </p:cNvPr>
          <p:cNvGrpSpPr/>
          <p:nvPr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D76AC7BE-DE07-E4A6-C8E6-45839E85DEEC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76D0E514-DA0D-A61B-BDEB-82000D251E15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933DBC7F-F64B-79A3-C668-43A76BD7050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20757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481D-C48F-EBE9-77F0-50253485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0E6AD66B-0065-10CF-AEC8-409E85AE4AA0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1EAA2EA-6BDC-05F3-DDA1-9F40F2B23B62}"/>
              </a:ext>
            </a:extLst>
          </p:cNvPr>
          <p:cNvGrpSpPr/>
          <p:nvPr/>
        </p:nvGrpSpPr>
        <p:grpSpPr>
          <a:xfrm>
            <a:off x="1669676" y="4052944"/>
            <a:ext cx="8852539" cy="549865"/>
            <a:chOff x="1672774" y="1808665"/>
            <a:chExt cx="8852539" cy="549865"/>
          </a:xfrm>
        </p:grpSpPr>
        <p:sp>
          <p:nvSpPr>
            <p:cNvPr id="35" name="직사각형 82">
              <a:extLst>
                <a:ext uri="{FF2B5EF4-FFF2-40B4-BE49-F238E27FC236}">
                  <a16:creationId xmlns:a16="http://schemas.microsoft.com/office/drawing/2014/main" id="{9A36F12C-6160-52CF-167E-60AB62A5343B}"/>
                </a:ext>
              </a:extLst>
            </p:cNvPr>
            <p:cNvSpPr/>
            <p:nvPr/>
          </p:nvSpPr>
          <p:spPr>
            <a:xfrm>
              <a:off x="1672774" y="1808665"/>
              <a:ext cx="8833448" cy="54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b="1">
                  <a:solidFill>
                    <a:schemeClr val="tx1"/>
                  </a:solidFill>
                  <a:ea typeface="Noto Sans KR Black"/>
                </a:rPr>
                <a:t>통합 보안 체계 구축을 통안 안전한 운영 환경 마련</a:t>
              </a:r>
              <a:endParaRPr lang="ko-KR" altLang="en-US" b="1" dirty="0">
                <a:solidFill>
                  <a:schemeClr val="tx1"/>
                </a:solidFill>
                <a:ea typeface="Noto Sans KR Black"/>
              </a:endParaRPr>
            </a:p>
          </p:txBody>
        </p:sp>
        <p:cxnSp>
          <p:nvCxnSpPr>
            <p:cNvPr id="36" name="직선 연결선 12">
              <a:extLst>
                <a:ext uri="{FF2B5EF4-FFF2-40B4-BE49-F238E27FC236}">
                  <a16:creationId xmlns:a16="http://schemas.microsoft.com/office/drawing/2014/main" id="{D06E9309-1DF2-ED19-ACB5-D9F5BD050F1D}"/>
                </a:ext>
              </a:extLst>
            </p:cNvPr>
            <p:cNvCxnSpPr>
              <a:cxnSpLocks/>
            </p:cNvCxnSpPr>
            <p:nvPr/>
          </p:nvCxnSpPr>
          <p:spPr>
            <a:xfrm>
              <a:off x="1674217" y="2065438"/>
              <a:ext cx="8851096" cy="28153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40E13A1-4BB8-BCEB-4DB5-76A2F613E9E3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추진 배경</a:t>
            </a:r>
            <a:endParaRPr lang="en-US" altLang="ko-KR">
              <a:solidFill>
                <a:schemeClr val="bg1"/>
              </a:solidFill>
            </a:endParaRPr>
          </a:p>
        </p:txBody>
      </p:sp>
      <p:grpSp>
        <p:nvGrpSpPr>
          <p:cNvPr id="16" name="그룹 4">
            <a:extLst>
              <a:ext uri="{FF2B5EF4-FFF2-40B4-BE49-F238E27FC236}">
                <a16:creationId xmlns:a16="http://schemas.microsoft.com/office/drawing/2014/main" id="{DF51A691-F16D-8AE3-58B9-3A364877D2BA}"/>
              </a:ext>
            </a:extLst>
          </p:cNvPr>
          <p:cNvGrpSpPr/>
          <p:nvPr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0B5081BD-E67D-2618-7E54-B383B297B8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AA75EA50-9307-DDAC-0052-692A7A1650BD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8D2373D7-84FE-4A4C-5A64-32C9C5816909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FFF2C2C-063D-E494-C693-B89BB7A3E121}"/>
              </a:ext>
            </a:extLst>
          </p:cNvPr>
          <p:cNvGrpSpPr/>
          <p:nvPr/>
        </p:nvGrpSpPr>
        <p:grpSpPr>
          <a:xfrm>
            <a:off x="1669676" y="1857487"/>
            <a:ext cx="8852539" cy="549865"/>
            <a:chOff x="1672774" y="1808665"/>
            <a:chExt cx="8852539" cy="549865"/>
          </a:xfrm>
        </p:grpSpPr>
        <p:sp>
          <p:nvSpPr>
            <p:cNvPr id="10" name="직사각형 82">
              <a:extLst>
                <a:ext uri="{FF2B5EF4-FFF2-40B4-BE49-F238E27FC236}">
                  <a16:creationId xmlns:a16="http://schemas.microsoft.com/office/drawing/2014/main" id="{3A44402D-CD51-B06A-26CB-D092AAEE5E91}"/>
                </a:ext>
              </a:extLst>
            </p:cNvPr>
            <p:cNvSpPr/>
            <p:nvPr/>
          </p:nvSpPr>
          <p:spPr>
            <a:xfrm>
              <a:off x="1672774" y="1808665"/>
              <a:ext cx="8833448" cy="54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b="1">
                  <a:solidFill>
                    <a:schemeClr val="tx1"/>
                  </a:solidFill>
                  <a:ea typeface="Noto Sans KR Black"/>
                </a:rPr>
                <a:t>사이버 보안 위협의 지속적 증가 및 대응 필요</a:t>
              </a:r>
            </a:p>
          </p:txBody>
        </p:sp>
        <p:cxnSp>
          <p:nvCxnSpPr>
            <p:cNvPr id="27" name="직선 연결선 12">
              <a:extLst>
                <a:ext uri="{FF2B5EF4-FFF2-40B4-BE49-F238E27FC236}">
                  <a16:creationId xmlns:a16="http://schemas.microsoft.com/office/drawing/2014/main" id="{45CEBC86-961E-8E48-E253-78D30E37548F}"/>
                </a:ext>
              </a:extLst>
            </p:cNvPr>
            <p:cNvCxnSpPr>
              <a:cxnSpLocks/>
            </p:cNvCxnSpPr>
            <p:nvPr/>
          </p:nvCxnSpPr>
          <p:spPr>
            <a:xfrm>
              <a:off x="1674217" y="2065438"/>
              <a:ext cx="8851096" cy="28153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440F048-942B-889D-D594-762B14E67E3F}"/>
              </a:ext>
            </a:extLst>
          </p:cNvPr>
          <p:cNvGrpSpPr/>
          <p:nvPr/>
        </p:nvGrpSpPr>
        <p:grpSpPr>
          <a:xfrm>
            <a:off x="1669676" y="5157396"/>
            <a:ext cx="8852539" cy="549865"/>
            <a:chOff x="1672774" y="1808665"/>
            <a:chExt cx="8852539" cy="549865"/>
          </a:xfrm>
        </p:grpSpPr>
        <p:sp>
          <p:nvSpPr>
            <p:cNvPr id="38" name="직사각형 82">
              <a:extLst>
                <a:ext uri="{FF2B5EF4-FFF2-40B4-BE49-F238E27FC236}">
                  <a16:creationId xmlns:a16="http://schemas.microsoft.com/office/drawing/2014/main" id="{322158B0-09D7-BB80-F1D9-2F317A4E2A58}"/>
                </a:ext>
              </a:extLst>
            </p:cNvPr>
            <p:cNvSpPr/>
            <p:nvPr/>
          </p:nvSpPr>
          <p:spPr>
            <a:xfrm>
              <a:off x="1672774" y="1808665"/>
              <a:ext cx="8833448" cy="54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b="1">
                  <a:solidFill>
                    <a:schemeClr val="tx1"/>
                  </a:solidFill>
                  <a:ea typeface="Noto Sans KR Black"/>
                </a:rPr>
                <a:t>DingDongDog! 플랫폼의 핵심 데이터 보호 및 신뢰성 확보</a:t>
              </a:r>
              <a:endParaRPr lang="ko-KR" altLang="en-US" b="1" dirty="0">
                <a:solidFill>
                  <a:schemeClr val="tx1"/>
                </a:solidFill>
                <a:ea typeface="Noto Sans KR Black"/>
              </a:endParaRPr>
            </a:p>
          </p:txBody>
        </p:sp>
        <p:cxnSp>
          <p:nvCxnSpPr>
            <p:cNvPr id="39" name="직선 연결선 12">
              <a:extLst>
                <a:ext uri="{FF2B5EF4-FFF2-40B4-BE49-F238E27FC236}">
                  <a16:creationId xmlns:a16="http://schemas.microsoft.com/office/drawing/2014/main" id="{012ECCA5-D824-8AD9-E04A-130441B4F618}"/>
                </a:ext>
              </a:extLst>
            </p:cNvPr>
            <p:cNvCxnSpPr>
              <a:cxnSpLocks/>
            </p:cNvCxnSpPr>
            <p:nvPr/>
          </p:nvCxnSpPr>
          <p:spPr>
            <a:xfrm>
              <a:off x="1674217" y="2065438"/>
              <a:ext cx="8851096" cy="28153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074C434-B628-EF4F-01CA-420A9AAEBEC2}"/>
              </a:ext>
            </a:extLst>
          </p:cNvPr>
          <p:cNvGrpSpPr/>
          <p:nvPr/>
        </p:nvGrpSpPr>
        <p:grpSpPr>
          <a:xfrm>
            <a:off x="1669676" y="2957457"/>
            <a:ext cx="8852539" cy="549865"/>
            <a:chOff x="1672774" y="1808665"/>
            <a:chExt cx="8852539" cy="549865"/>
          </a:xfrm>
        </p:grpSpPr>
        <p:sp>
          <p:nvSpPr>
            <p:cNvPr id="32" name="직사각형 82">
              <a:extLst>
                <a:ext uri="{FF2B5EF4-FFF2-40B4-BE49-F238E27FC236}">
                  <a16:creationId xmlns:a16="http://schemas.microsoft.com/office/drawing/2014/main" id="{220980E2-17AD-5F24-E29D-FF1FF9AD6876}"/>
                </a:ext>
              </a:extLst>
            </p:cNvPr>
            <p:cNvSpPr/>
            <p:nvPr/>
          </p:nvSpPr>
          <p:spPr>
            <a:xfrm>
              <a:off x="1672774" y="1808665"/>
              <a:ext cx="8833448" cy="54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b="1">
                  <a:solidFill>
                    <a:schemeClr val="tx1"/>
                  </a:solidFill>
                  <a:ea typeface="Noto Sans KR Black"/>
                </a:rPr>
                <a:t>보안 관련 법적 규제 준수 및 안정적 인프라 요구</a:t>
              </a:r>
              <a:endParaRPr lang="ko-KR" altLang="en-US" b="1" dirty="0">
                <a:solidFill>
                  <a:schemeClr val="tx1"/>
                </a:solidFill>
                <a:ea typeface="Noto Sans KR Black"/>
              </a:endParaRPr>
            </a:p>
          </p:txBody>
        </p:sp>
        <p:cxnSp>
          <p:nvCxnSpPr>
            <p:cNvPr id="33" name="직선 연결선 12">
              <a:extLst>
                <a:ext uri="{FF2B5EF4-FFF2-40B4-BE49-F238E27FC236}">
                  <a16:creationId xmlns:a16="http://schemas.microsoft.com/office/drawing/2014/main" id="{3DFF369B-161C-D73C-8B54-3559FB9DBAAD}"/>
                </a:ext>
              </a:extLst>
            </p:cNvPr>
            <p:cNvCxnSpPr>
              <a:cxnSpLocks/>
            </p:cNvCxnSpPr>
            <p:nvPr/>
          </p:nvCxnSpPr>
          <p:spPr>
            <a:xfrm>
              <a:off x="1674217" y="2065438"/>
              <a:ext cx="8851096" cy="28153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260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19587-F909-15C7-5874-0AD3F25D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1D74F33C-E7DB-A07E-3013-C2BFF65D56F7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D0EBDD2-1975-F3C4-F4B8-8A93C4DF5BE9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고객사 설명</a:t>
            </a:r>
            <a:endParaRPr lang="en-US" altLang="ko-KR">
              <a:solidFill>
                <a:schemeClr val="bg1"/>
              </a:solidFill>
            </a:endParaRPr>
          </a:p>
        </p:txBody>
      </p:sp>
      <p:grpSp>
        <p:nvGrpSpPr>
          <p:cNvPr id="16" name="그룹 4">
            <a:extLst>
              <a:ext uri="{FF2B5EF4-FFF2-40B4-BE49-F238E27FC236}">
                <a16:creationId xmlns:a16="http://schemas.microsoft.com/office/drawing/2014/main" id="{CE29CFE5-A477-0426-8886-4AB61165F02C}"/>
              </a:ext>
            </a:extLst>
          </p:cNvPr>
          <p:cNvGrpSpPr/>
          <p:nvPr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AC2C7CE3-5D37-EDE9-359E-37A45A3CC8D7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EE8EEF67-CD0E-0261-02F1-22C04ECFFC44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7D95ED54-2686-A00F-5C43-459037B5B84D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3" name="직사각형 82">
            <a:extLst>
              <a:ext uri="{FF2B5EF4-FFF2-40B4-BE49-F238E27FC236}">
                <a16:creationId xmlns:a16="http://schemas.microsoft.com/office/drawing/2014/main" id="{80965A93-D804-30B8-EFB3-3EC89F03139F}"/>
              </a:ext>
            </a:extLst>
          </p:cNvPr>
          <p:cNvSpPr/>
          <p:nvPr/>
        </p:nvSpPr>
        <p:spPr>
          <a:xfrm>
            <a:off x="1678641" y="2234005"/>
            <a:ext cx="8833448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"멍 ! 매칭으로 찾는</a:t>
            </a:r>
            <a:endParaRPr lang="en-US" altLang="ko-KR" sz="2400">
              <a:solidFill>
                <a:schemeClr val="tx1"/>
              </a:solidFill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나만의 반려견</a:t>
            </a:r>
            <a:r>
              <a:rPr lang="ko-KR" altLang="en-US" sz="2400" b="1">
                <a:solidFill>
                  <a:schemeClr val="tx1"/>
                </a:solidFill>
                <a:ea typeface="Noto Sans KR Black"/>
                <a:cs typeface="+mn-lt"/>
              </a:rPr>
              <a:t>,</a:t>
            </a: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 딩동독!"</a:t>
            </a:r>
            <a:endParaRPr lang="en-US" altLang="ko-KR" sz="240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" name="직사각형 82">
            <a:extLst>
              <a:ext uri="{FF2B5EF4-FFF2-40B4-BE49-F238E27FC236}">
                <a16:creationId xmlns:a16="http://schemas.microsoft.com/office/drawing/2014/main" id="{8DADF43B-CB22-6573-41A2-4EAF8507CC37}"/>
              </a:ext>
            </a:extLst>
          </p:cNvPr>
          <p:cNvSpPr/>
          <p:nvPr/>
        </p:nvSpPr>
        <p:spPr>
          <a:xfrm>
            <a:off x="970427" y="4367604"/>
            <a:ext cx="10236425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저희 DingDongDOG!은 단순한 유기견 정보 공유를 넘어,</a:t>
            </a:r>
            <a:br>
              <a:rPr lang="ko-KR" altLang="en-US" sz="1500" b="1" dirty="0">
                <a:ea typeface="Noto Sans KR Black"/>
              </a:rPr>
            </a:br>
            <a:r>
              <a:rPr lang="ko-KR" altLang="en-US" sz="1500" b="1">
                <a:solidFill>
                  <a:schemeClr val="tx1"/>
                </a:solidFill>
                <a:ea typeface="Noto Sans KR Black"/>
              </a:rPr>
              <a:t>유기견의 데이터 기반의 멍!매칭을 통해 반려견과 입양 가족을 가장 행복하게 연결하는 입양 플랫폼입니다.</a:t>
            </a:r>
            <a:endParaRPr lang="ko-KR" altLang="en-US" sz="15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5" name="직사각형 82">
            <a:extLst>
              <a:ext uri="{FF2B5EF4-FFF2-40B4-BE49-F238E27FC236}">
                <a16:creationId xmlns:a16="http://schemas.microsoft.com/office/drawing/2014/main" id="{79901BE6-0974-E756-E072-24D7D71FC135}"/>
              </a:ext>
            </a:extLst>
          </p:cNvPr>
          <p:cNvSpPr/>
          <p:nvPr/>
        </p:nvSpPr>
        <p:spPr>
          <a:xfrm>
            <a:off x="2951627" y="1512345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>
                <a:solidFill>
                  <a:schemeClr val="tx1"/>
                </a:solidFill>
                <a:ea typeface="Noto Sans KR Black"/>
              </a:rPr>
              <a:t>이미지 추가 예정</a:t>
            </a:r>
            <a:br>
              <a:rPr lang="ko-KR" altLang="en-US" sz="1500" b="1" dirty="0">
                <a:ea typeface="Noto Sans KR Black"/>
              </a:rPr>
            </a:b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</p:spTree>
    <p:extLst>
      <p:ext uri="{BB962C8B-B14F-4D97-AF65-F5344CB8AC3E}">
        <p14:creationId xmlns:p14="http://schemas.microsoft.com/office/powerpoint/2010/main" val="3898273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2A80-3DDF-F3DE-A552-664B6F16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시나리오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6" name="그룹 4">
            <a:extLst>
              <a:ext uri="{FF2B5EF4-FFF2-40B4-BE49-F238E27FC236}">
                <a16:creationId xmlns:a16="http://schemas.microsoft.com/office/drawing/2014/main" id="{FAB22270-1C28-0BD8-6945-9B471E3B7955}"/>
              </a:ext>
            </a:extLst>
          </p:cNvPr>
          <p:cNvGrpSpPr/>
          <p:nvPr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B848E932-970A-9D65-79C8-1443B591ACDB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084C93DA-B6D0-B568-53B9-6E11BC5AE4A2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09C35296-3C04-07A0-2035-3BEEA4B5CD7D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3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/>
        </p:nvSpPr>
        <p:spPr>
          <a:xfrm>
            <a:off x="2951627" y="4228651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>
                <a:solidFill>
                  <a:schemeClr val="tx1"/>
                </a:solidFill>
                <a:ea typeface="Noto Sans KR Black"/>
              </a:rPr>
              <a:t>위협 증가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이용자 증가로 인해 회원 및 보호소 정보 등 주요 데이터를 노리는 공격 위험 증대</a:t>
            </a: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5" name="직사각형 82">
            <a:extLst>
              <a:ext uri="{FF2B5EF4-FFF2-40B4-BE49-F238E27FC236}">
                <a16:creationId xmlns:a16="http://schemas.microsoft.com/office/drawing/2014/main" id="{C2744C6E-6CE3-45B2-0518-20A65C940616}"/>
              </a:ext>
            </a:extLst>
          </p:cNvPr>
          <p:cNvSpPr/>
          <p:nvPr/>
        </p:nvSpPr>
        <p:spPr>
          <a:xfrm>
            <a:off x="2951627" y="2287792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>
                <a:solidFill>
                  <a:schemeClr val="tx1"/>
                </a:solidFill>
                <a:ea typeface="Noto Sans KR Black"/>
              </a:rPr>
              <a:t>이미지 추가 예정</a:t>
            </a:r>
            <a:br>
              <a:rPr lang="ko-KR" altLang="en-US" sz="1500" b="1" dirty="0">
                <a:ea typeface="Noto Sans KR Black"/>
              </a:rPr>
            </a:b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</p:spTree>
    <p:extLst>
      <p:ext uri="{BB962C8B-B14F-4D97-AF65-F5344CB8AC3E}">
        <p14:creationId xmlns:p14="http://schemas.microsoft.com/office/powerpoint/2010/main" val="2376867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F09CE-024B-5B1C-4066-07BD63BF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11D4CCD6-438E-5A9F-4AA4-4E55C33187DE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6978544-12F7-A8DB-2485-D3986B881DDF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시나리오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6" name="그룹 4">
            <a:extLst>
              <a:ext uri="{FF2B5EF4-FFF2-40B4-BE49-F238E27FC236}">
                <a16:creationId xmlns:a16="http://schemas.microsoft.com/office/drawing/2014/main" id="{66EF650B-C5AC-70AC-BFCD-2FE9F1A817E3}"/>
              </a:ext>
            </a:extLst>
          </p:cNvPr>
          <p:cNvGrpSpPr/>
          <p:nvPr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9D96D722-D449-B9C9-29D0-8712FD818164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81E12B5F-73D4-02A6-0111-2AB4E51FCFF9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C2937B41-C5B5-9228-26EE-CBCDC7687A34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3" name="직사각형 82">
            <a:extLst>
              <a:ext uri="{FF2B5EF4-FFF2-40B4-BE49-F238E27FC236}">
                <a16:creationId xmlns:a16="http://schemas.microsoft.com/office/drawing/2014/main" id="{66F5B022-4724-AF0E-D425-B7DCE0F0591C}"/>
              </a:ext>
            </a:extLst>
          </p:cNvPr>
          <p:cNvSpPr/>
          <p:nvPr/>
        </p:nvSpPr>
        <p:spPr>
          <a:xfrm>
            <a:off x="2951627" y="4228651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보안 사고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보호소회원 전용 기능 권한 검증 미흡을</a:t>
            </a: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악용한 비인가 데이터 변조 공격</a:t>
            </a:r>
          </a:p>
        </p:txBody>
      </p:sp>
      <p:sp>
        <p:nvSpPr>
          <p:cNvPr id="5" name="직사각형 82">
            <a:extLst>
              <a:ext uri="{FF2B5EF4-FFF2-40B4-BE49-F238E27FC236}">
                <a16:creationId xmlns:a16="http://schemas.microsoft.com/office/drawing/2014/main" id="{F1149733-9729-140A-0510-F8C82DA002C0}"/>
              </a:ext>
            </a:extLst>
          </p:cNvPr>
          <p:cNvSpPr/>
          <p:nvPr/>
        </p:nvSpPr>
        <p:spPr>
          <a:xfrm>
            <a:off x="2951627" y="2287792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>
                <a:solidFill>
                  <a:schemeClr val="tx1"/>
                </a:solidFill>
                <a:ea typeface="Noto Sans KR Black"/>
              </a:rPr>
              <a:t>이미지 추가 예정</a:t>
            </a:r>
            <a:br>
              <a:rPr lang="ko-KR" altLang="en-US" sz="1500" b="1" dirty="0">
                <a:ea typeface="Noto Sans KR Black"/>
              </a:rPr>
            </a:b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</p:spTree>
    <p:extLst>
      <p:ext uri="{BB962C8B-B14F-4D97-AF65-F5344CB8AC3E}">
        <p14:creationId xmlns:p14="http://schemas.microsoft.com/office/powerpoint/2010/main" val="3542778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95126-E81A-5E54-4704-DB199EC9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7EF95728-5F69-73CA-B012-647BAE3E39A2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23CB242-6CE9-384D-2BCC-788996864D8B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시나리오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6" name="그룹 4">
            <a:extLst>
              <a:ext uri="{FF2B5EF4-FFF2-40B4-BE49-F238E27FC236}">
                <a16:creationId xmlns:a16="http://schemas.microsoft.com/office/drawing/2014/main" id="{09310C51-08ED-6253-695A-73CC0C974C88}"/>
              </a:ext>
            </a:extLst>
          </p:cNvPr>
          <p:cNvGrpSpPr/>
          <p:nvPr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CD63B23D-5A65-A11B-16C2-A54C53409F1A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FEFF254B-CE91-004D-57E2-6F4F4400F1ED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282E0D2F-8EA3-3413-D681-F55ACFC4284D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3" name="직사각형 82">
            <a:extLst>
              <a:ext uri="{FF2B5EF4-FFF2-40B4-BE49-F238E27FC236}">
                <a16:creationId xmlns:a16="http://schemas.microsoft.com/office/drawing/2014/main" id="{68521F62-561D-34F1-7114-AE1F017BC68E}"/>
              </a:ext>
            </a:extLst>
          </p:cNvPr>
          <p:cNvSpPr/>
          <p:nvPr/>
        </p:nvSpPr>
        <p:spPr>
          <a:xfrm>
            <a:off x="2454086" y="4228651"/>
            <a:ext cx="72780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통합 관제 부재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2400" b="1">
                <a:solidFill>
                  <a:schemeClr val="tx1"/>
                </a:solidFill>
                <a:ea typeface="Noto Sans KR Black"/>
              </a:rPr>
              <a:t> SIEM 체계가 구축되어 있지 않아, 공격 발생 시점과 전체적인 영향 범위를 신속하게 파악하는데 실패</a:t>
            </a:r>
          </a:p>
        </p:txBody>
      </p:sp>
      <p:sp>
        <p:nvSpPr>
          <p:cNvPr id="5" name="직사각형 82">
            <a:extLst>
              <a:ext uri="{FF2B5EF4-FFF2-40B4-BE49-F238E27FC236}">
                <a16:creationId xmlns:a16="http://schemas.microsoft.com/office/drawing/2014/main" id="{B175704E-6C78-59E3-5357-8D1F5324A158}"/>
              </a:ext>
            </a:extLst>
          </p:cNvPr>
          <p:cNvSpPr/>
          <p:nvPr/>
        </p:nvSpPr>
        <p:spPr>
          <a:xfrm>
            <a:off x="2951627" y="2287792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>
                <a:solidFill>
                  <a:schemeClr val="tx1"/>
                </a:solidFill>
                <a:ea typeface="Noto Sans KR Black"/>
              </a:rPr>
              <a:t>이미지 추가 예정</a:t>
            </a:r>
            <a:br>
              <a:rPr lang="ko-KR" altLang="en-US" sz="1500" b="1" dirty="0">
                <a:ea typeface="Noto Sans KR Black"/>
              </a:rPr>
            </a:b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</p:spTree>
    <p:extLst>
      <p:ext uri="{BB962C8B-B14F-4D97-AF65-F5344CB8AC3E}">
        <p14:creationId xmlns:p14="http://schemas.microsoft.com/office/powerpoint/2010/main" val="2034051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51CE6-FFC1-D853-8E62-40DB9C0F7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6165591-216C-7D00-943C-E0182A00D92F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C27BA26-FFEB-2F16-0A1E-B8D2FE6F6AC3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사업목표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6" name="그룹 4">
            <a:extLst>
              <a:ext uri="{FF2B5EF4-FFF2-40B4-BE49-F238E27FC236}">
                <a16:creationId xmlns:a16="http://schemas.microsoft.com/office/drawing/2014/main" id="{88834142-1231-4F31-87BD-3AEA86F6FFB1}"/>
              </a:ext>
            </a:extLst>
          </p:cNvPr>
          <p:cNvGrpSpPr/>
          <p:nvPr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7F86469F-F344-3CFA-770A-5973177BD82F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2B28217E-FF31-A446-E31C-9AE7BF946477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92D36825-424E-56D3-4338-C0FC01C11815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33" name="타원 6">
            <a:extLst>
              <a:ext uri="{FF2B5EF4-FFF2-40B4-BE49-F238E27FC236}">
                <a16:creationId xmlns:a16="http://schemas.microsoft.com/office/drawing/2014/main" id="{1E5E87A6-D1AE-9E97-2398-D72A89E9FD33}"/>
              </a:ext>
            </a:extLst>
          </p:cNvPr>
          <p:cNvSpPr/>
          <p:nvPr/>
        </p:nvSpPr>
        <p:spPr>
          <a:xfrm>
            <a:off x="5285638" y="2839392"/>
            <a:ext cx="1483610" cy="1502572"/>
          </a:xfrm>
          <a:prstGeom prst="ellipse">
            <a:avLst/>
          </a:prstGeom>
          <a:solidFill>
            <a:srgbClr val="373E54"/>
          </a:solidFill>
          <a:ln w="19050">
            <a:solidFill>
              <a:srgbClr val="EAECEE"/>
            </a:solidFill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직사각형 82">
            <a:extLst>
              <a:ext uri="{FF2B5EF4-FFF2-40B4-BE49-F238E27FC236}">
                <a16:creationId xmlns:a16="http://schemas.microsoft.com/office/drawing/2014/main" id="{E0CB22DA-345B-CAC3-D72E-350E98A4298E}"/>
              </a:ext>
            </a:extLst>
          </p:cNvPr>
          <p:cNvSpPr/>
          <p:nvPr/>
        </p:nvSpPr>
        <p:spPr>
          <a:xfrm>
            <a:off x="327178" y="1773277"/>
            <a:ext cx="5431453" cy="125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solidFill>
                  <a:schemeClr val="tx1"/>
                </a:solidFill>
                <a:ea typeface="Noto Sans KR Black"/>
              </a:rPr>
              <a:t>종합 보안 체계 </a:t>
            </a: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구축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인프라(WEB, WAS, DB) 최적화, 보안장비 도입,</a:t>
            </a:r>
            <a:br>
              <a:rPr lang="ko-KR" altLang="en-US" sz="1200" b="1" dirty="0"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SIEM 기반의 통합 보안관제 체계를 구축하여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운영 환경 안정화</a:t>
            </a:r>
            <a:endParaRPr lang="ko-KR" altLang="en-US" sz="1200" b="1" dirty="0">
              <a:solidFill>
                <a:schemeClr val="tx1"/>
              </a:solidFill>
              <a:ea typeface="Noto Sans KR Black"/>
            </a:endParaRPr>
          </a:p>
        </p:txBody>
      </p:sp>
      <p:pic>
        <p:nvPicPr>
          <p:cNvPr id="52" name="Picture 51" descr="A logo for a company&#10;&#10;AI-generated content may be incorrect.">
            <a:extLst>
              <a:ext uri="{FF2B5EF4-FFF2-40B4-BE49-F238E27FC236}">
                <a16:creationId xmlns:a16="http://schemas.microsoft.com/office/drawing/2014/main" id="{69EBC956-43AA-E9A4-A242-103F235F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96" t="4515" r="27819" b="4740"/>
          <a:stretch>
            <a:fillRect/>
          </a:stretch>
        </p:blipFill>
        <p:spPr>
          <a:xfrm>
            <a:off x="5522258" y="3031113"/>
            <a:ext cx="1006541" cy="1118279"/>
          </a:xfrm>
          <a:prstGeom prst="rect">
            <a:avLst/>
          </a:prstGeom>
        </p:spPr>
      </p:pic>
      <p:sp>
        <p:nvSpPr>
          <p:cNvPr id="9" name="직사각형 82">
            <a:extLst>
              <a:ext uri="{FF2B5EF4-FFF2-40B4-BE49-F238E27FC236}">
                <a16:creationId xmlns:a16="http://schemas.microsoft.com/office/drawing/2014/main" id="{F70E2D0A-2184-44FC-75B5-DB5490864FF8}"/>
              </a:ext>
            </a:extLst>
          </p:cNvPr>
          <p:cNvSpPr/>
          <p:nvPr/>
        </p:nvSpPr>
        <p:spPr>
          <a:xfrm>
            <a:off x="334199" y="4706711"/>
            <a:ext cx="5431453" cy="125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보안 위협 선제적 대응</a:t>
            </a:r>
            <a:br>
              <a:rPr lang="ko-KR" altLang="en-US" sz="1500" b="1" dirty="0">
                <a:ea typeface="Noto Sans KR Black"/>
              </a:rPr>
            </a:b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취약점 진단 및 모의해킹을 통해 잠재적 보안 위협을</a:t>
            </a:r>
            <a:br>
              <a:rPr lang="ko-KR" altLang="en-US" sz="12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사전에 식별하고 제거</a:t>
            </a:r>
          </a:p>
        </p:txBody>
      </p:sp>
      <p:sp>
        <p:nvSpPr>
          <p:cNvPr id="10" name="직사각형 82">
            <a:extLst>
              <a:ext uri="{FF2B5EF4-FFF2-40B4-BE49-F238E27FC236}">
                <a16:creationId xmlns:a16="http://schemas.microsoft.com/office/drawing/2014/main" id="{F2739981-7082-5FF4-F999-1529248EA091}"/>
              </a:ext>
            </a:extLst>
          </p:cNvPr>
          <p:cNvSpPr/>
          <p:nvPr/>
        </p:nvSpPr>
        <p:spPr>
          <a:xfrm>
            <a:off x="6527588" y="1773277"/>
            <a:ext cx="5431453" cy="125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solidFill>
                  <a:schemeClr val="tx1"/>
                </a:solidFill>
                <a:ea typeface="Noto Sans KR Black"/>
              </a:rPr>
              <a:t>신속한 탐지 및 대응 체계 마련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로그 분석과 탐지 정책을 통해 공격 발생 시</a:t>
            </a:r>
            <a:br>
              <a:rPr lang="ko-KR" altLang="en-US" sz="12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신속한 원인 파악 및 대응이 가능한 기반 확보</a:t>
            </a:r>
            <a:endParaRPr lang="ko-KR" altLang="en-US" sz="12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1" name="직사각형 82">
            <a:extLst>
              <a:ext uri="{FF2B5EF4-FFF2-40B4-BE49-F238E27FC236}">
                <a16:creationId xmlns:a16="http://schemas.microsoft.com/office/drawing/2014/main" id="{711B9F1F-E287-0382-3940-087699715956}"/>
              </a:ext>
            </a:extLst>
          </p:cNvPr>
          <p:cNvSpPr/>
          <p:nvPr/>
        </p:nvSpPr>
        <p:spPr>
          <a:xfrm>
            <a:off x="6527588" y="4547760"/>
            <a:ext cx="5431453" cy="125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solidFill>
                  <a:schemeClr val="tx1"/>
                </a:solidFill>
                <a:ea typeface="Noto Sans KR Black"/>
              </a:rPr>
              <a:t>지속 가능한 보안 눙영 기준 수립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조치 가디으 및 최종 결과보고서 작성을 통해 DDD가</a:t>
            </a:r>
            <a:endParaRPr lang="en-US">
              <a:solidFill>
                <a:schemeClr val="tx1"/>
              </a:solidFill>
              <a:ea typeface="맑은 고딕" panose="020F0502020204030204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>
                <a:solidFill>
                  <a:schemeClr val="tx1"/>
                </a:solidFill>
                <a:ea typeface="Noto Sans KR Black"/>
              </a:rPr>
              <a:t>향후에도 스스로 보안 수준을 관리할 수 있는 운영 기준 마련</a:t>
            </a:r>
            <a:endParaRPr lang="ko-KR" altLang="en-US" sz="1200" b="1" dirty="0">
              <a:solidFill>
                <a:schemeClr val="tx1"/>
              </a:solidFill>
              <a:ea typeface="Noto Sans KR Black"/>
            </a:endParaRPr>
          </a:p>
        </p:txBody>
      </p:sp>
    </p:spTree>
    <p:extLst>
      <p:ext uri="{BB962C8B-B14F-4D97-AF65-F5344CB8AC3E}">
        <p14:creationId xmlns:p14="http://schemas.microsoft.com/office/powerpoint/2010/main" val="1530072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42943-3CA0-7B3C-9392-ED73CF0E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0BE8F7F6-5AC3-7DD0-C67E-3DB6E5E7DBA1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E9333BF-9552-9FFC-8424-ED91FFACA8AF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사용 툴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6" name="그룹 4">
            <a:extLst>
              <a:ext uri="{FF2B5EF4-FFF2-40B4-BE49-F238E27FC236}">
                <a16:creationId xmlns:a16="http://schemas.microsoft.com/office/drawing/2014/main" id="{8B73333A-430D-70E5-63A3-9FACB6D387FD}"/>
              </a:ext>
            </a:extLst>
          </p:cNvPr>
          <p:cNvGrpSpPr/>
          <p:nvPr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9340ED66-1B22-B452-45CB-B25D91F42ECE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243947E0-8545-0763-283C-E4DD29AE91D7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C054AC68-91C3-1659-750F-1AC7B7506C56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7C313AE-CA54-B9BD-7010-54C91273EC33}"/>
              </a:ext>
            </a:extLst>
          </p:cNvPr>
          <p:cNvGrpSpPr/>
          <p:nvPr/>
        </p:nvGrpSpPr>
        <p:grpSpPr>
          <a:xfrm>
            <a:off x="811399" y="1551624"/>
            <a:ext cx="2753586" cy="279357"/>
            <a:chOff x="748985" y="1828715"/>
            <a:chExt cx="2753586" cy="279357"/>
          </a:xfrm>
        </p:grpSpPr>
        <p:cxnSp>
          <p:nvCxnSpPr>
            <p:cNvPr id="3" name="직선 연결선 12">
              <a:extLst>
                <a:ext uri="{FF2B5EF4-FFF2-40B4-BE49-F238E27FC236}">
                  <a16:creationId xmlns:a16="http://schemas.microsoft.com/office/drawing/2014/main" id="{D3F49AD9-2466-0C3E-44AB-250D88F73713}"/>
                </a:ext>
              </a:extLst>
            </p:cNvPr>
            <p:cNvCxnSpPr/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3">
              <a:extLst>
                <a:ext uri="{FF2B5EF4-FFF2-40B4-BE49-F238E27FC236}">
                  <a16:creationId xmlns:a16="http://schemas.microsoft.com/office/drawing/2014/main" id="{BC05387C-81B7-4E80-2390-B0F87946DF3E}"/>
                </a:ext>
              </a:extLst>
            </p:cNvPr>
            <p:cNvSpPr/>
            <p:nvPr/>
          </p:nvSpPr>
          <p:spPr>
            <a:xfrm>
              <a:off x="1464349" y="1828715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사용 도구</a:t>
              </a:r>
              <a:endParaRPr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4D2FED-35AC-75DA-E3A1-F883D4F954EF}"/>
              </a:ext>
            </a:extLst>
          </p:cNvPr>
          <p:cNvGrpSpPr/>
          <p:nvPr/>
        </p:nvGrpSpPr>
        <p:grpSpPr>
          <a:xfrm>
            <a:off x="4371252" y="1550789"/>
            <a:ext cx="1316948" cy="279357"/>
            <a:chOff x="4286413" y="1831912"/>
            <a:chExt cx="1316948" cy="279357"/>
          </a:xfrm>
        </p:grpSpPr>
        <p:cxnSp>
          <p:nvCxnSpPr>
            <p:cNvPr id="9" name="직선 연결선 12">
              <a:extLst>
                <a:ext uri="{FF2B5EF4-FFF2-40B4-BE49-F238E27FC236}">
                  <a16:creationId xmlns:a16="http://schemas.microsoft.com/office/drawing/2014/main" id="{3A3C60E8-B060-8EB1-F44A-DA8563CD84C1}"/>
                </a:ext>
              </a:extLst>
            </p:cNvPr>
            <p:cNvCxnSpPr/>
            <p:nvPr/>
          </p:nvCxnSpPr>
          <p:spPr>
            <a:xfrm>
              <a:off x="4287224" y="2077905"/>
              <a:ext cx="1310802" cy="5328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43">
              <a:extLst>
                <a:ext uri="{FF2B5EF4-FFF2-40B4-BE49-F238E27FC236}">
                  <a16:creationId xmlns:a16="http://schemas.microsoft.com/office/drawing/2014/main" id="{D5110BB4-7511-879B-F683-FBA0ACCDDDE5}"/>
                </a:ext>
              </a:extLst>
            </p:cNvPr>
            <p:cNvSpPr/>
            <p:nvPr/>
          </p:nvSpPr>
          <p:spPr>
            <a:xfrm>
              <a:off x="4286413" y="183191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협업 도구</a:t>
              </a:r>
              <a:endParaRPr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3B2D11-6993-8170-248A-D73835C920A0}"/>
              </a:ext>
            </a:extLst>
          </p:cNvPr>
          <p:cNvGrpSpPr/>
          <p:nvPr/>
        </p:nvGrpSpPr>
        <p:grpSpPr>
          <a:xfrm>
            <a:off x="6496444" y="1575815"/>
            <a:ext cx="2753586" cy="279357"/>
            <a:chOff x="748985" y="1828715"/>
            <a:chExt cx="2753586" cy="279357"/>
          </a:xfrm>
        </p:grpSpPr>
        <p:cxnSp>
          <p:nvCxnSpPr>
            <p:cNvPr id="17" name="직선 연결선 12">
              <a:extLst>
                <a:ext uri="{FF2B5EF4-FFF2-40B4-BE49-F238E27FC236}">
                  <a16:creationId xmlns:a16="http://schemas.microsoft.com/office/drawing/2014/main" id="{3A8D80C6-6538-C702-93B8-C34D01C5D50D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43">
              <a:extLst>
                <a:ext uri="{FF2B5EF4-FFF2-40B4-BE49-F238E27FC236}">
                  <a16:creationId xmlns:a16="http://schemas.microsoft.com/office/drawing/2014/main" id="{001B0DAE-F4E7-5EE6-62CA-0AD69A583A0D}"/>
                </a:ext>
              </a:extLst>
            </p:cNvPr>
            <p:cNvSpPr/>
            <p:nvPr/>
          </p:nvSpPr>
          <p:spPr>
            <a:xfrm>
              <a:off x="1464349" y="1828715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사용 장비</a:t>
              </a:r>
              <a:endParaRPr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1C7C95-8012-CAA9-5679-E2A15C4B5EB5}"/>
              </a:ext>
            </a:extLst>
          </p:cNvPr>
          <p:cNvGrpSpPr/>
          <p:nvPr/>
        </p:nvGrpSpPr>
        <p:grpSpPr>
          <a:xfrm>
            <a:off x="10061553" y="1574980"/>
            <a:ext cx="1316948" cy="279357"/>
            <a:chOff x="4286413" y="1831912"/>
            <a:chExt cx="1316948" cy="279357"/>
          </a:xfrm>
        </p:grpSpPr>
        <p:cxnSp>
          <p:nvCxnSpPr>
            <p:cNvPr id="21" name="직선 연결선 12">
              <a:extLst>
                <a:ext uri="{FF2B5EF4-FFF2-40B4-BE49-F238E27FC236}">
                  <a16:creationId xmlns:a16="http://schemas.microsoft.com/office/drawing/2014/main" id="{8546A371-6ED6-76DC-A6FF-7F614855D56A}"/>
                </a:ext>
              </a:extLst>
            </p:cNvPr>
            <p:cNvCxnSpPr>
              <a:cxnSpLocks/>
            </p:cNvCxnSpPr>
            <p:nvPr/>
          </p:nvCxnSpPr>
          <p:spPr>
            <a:xfrm>
              <a:off x="4287224" y="2077905"/>
              <a:ext cx="1310802" cy="5328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직사각형 43">
              <a:extLst>
                <a:ext uri="{FF2B5EF4-FFF2-40B4-BE49-F238E27FC236}">
                  <a16:creationId xmlns:a16="http://schemas.microsoft.com/office/drawing/2014/main" id="{30E4BE70-504F-EF34-159E-A0AE3BAA6044}"/>
                </a:ext>
              </a:extLst>
            </p:cNvPr>
            <p:cNvSpPr/>
            <p:nvPr/>
          </p:nvSpPr>
          <p:spPr>
            <a:xfrm>
              <a:off x="4286413" y="183191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협업 도구</a:t>
              </a:r>
              <a:endParaRPr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pic>
        <p:nvPicPr>
          <p:cNvPr id="25" name="Picture 24" descr="A logo of a chameleon&#10;&#10;AI-generated content may be incorrect.">
            <a:extLst>
              <a:ext uri="{FF2B5EF4-FFF2-40B4-BE49-F238E27FC236}">
                <a16:creationId xmlns:a16="http://schemas.microsoft.com/office/drawing/2014/main" id="{71B589E4-6F2F-C2B4-9D28-7EF925AC4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373" y="2360384"/>
            <a:ext cx="722853" cy="750816"/>
          </a:xfrm>
          <a:prstGeom prst="rect">
            <a:avLst/>
          </a:prstGeom>
        </p:spPr>
      </p:pic>
      <p:pic>
        <p:nvPicPr>
          <p:cNvPr id="27" name="Picture 26" descr="A computer with lightning bolt&#10;&#10;AI-generated content may be incorrect.">
            <a:extLst>
              <a:ext uri="{FF2B5EF4-FFF2-40B4-BE49-F238E27FC236}">
                <a16:creationId xmlns:a16="http://schemas.microsoft.com/office/drawing/2014/main" id="{478EA401-0ACF-B668-5867-67CB1B009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635" y="2362131"/>
            <a:ext cx="699084" cy="741029"/>
          </a:xfrm>
          <a:prstGeom prst="rect">
            <a:avLst/>
          </a:prstGeom>
        </p:spPr>
      </p:pic>
      <p:pic>
        <p:nvPicPr>
          <p:cNvPr id="29" name="Picture 28" descr="A magnifying glass with a yellow envelope and a white circle&#10;&#10;AI-generated content may be incorrect.">
            <a:extLst>
              <a:ext uri="{FF2B5EF4-FFF2-40B4-BE49-F238E27FC236}">
                <a16:creationId xmlns:a16="http://schemas.microsoft.com/office/drawing/2014/main" id="{2DBA9CEB-3B15-C458-67F8-4D909CC71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71" y="2363879"/>
            <a:ext cx="680908" cy="645955"/>
          </a:xfrm>
          <a:prstGeom prst="rect">
            <a:avLst/>
          </a:prstGeom>
        </p:spPr>
      </p:pic>
      <p:pic>
        <p:nvPicPr>
          <p:cNvPr id="31" name="Picture 30" descr="A blue eye with a black background&#10;&#10;AI-generated content may be incorrect.">
            <a:extLst>
              <a:ext uri="{FF2B5EF4-FFF2-40B4-BE49-F238E27FC236}">
                <a16:creationId xmlns:a16="http://schemas.microsoft.com/office/drawing/2014/main" id="{94590241-A228-7ABD-4024-4C91850880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833" t="26715" r="21462" b="26110"/>
          <a:stretch>
            <a:fillRect/>
          </a:stretch>
        </p:blipFill>
        <p:spPr>
          <a:xfrm>
            <a:off x="458556" y="4067174"/>
            <a:ext cx="886038" cy="587033"/>
          </a:xfrm>
          <a:prstGeom prst="rect">
            <a:avLst/>
          </a:prstGeom>
        </p:spPr>
      </p:pic>
      <p:pic>
        <p:nvPicPr>
          <p:cNvPr id="33" name="Picture 32" descr="A blue and white shark fin&#10;&#10;AI-generated content may be incorrect.">
            <a:extLst>
              <a:ext uri="{FF2B5EF4-FFF2-40B4-BE49-F238E27FC236}">
                <a16:creationId xmlns:a16="http://schemas.microsoft.com/office/drawing/2014/main" id="{5DA5808F-9936-B9D7-FF7F-017422300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8283" y="3994139"/>
            <a:ext cx="643158" cy="643158"/>
          </a:xfrm>
          <a:prstGeom prst="rect">
            <a:avLst/>
          </a:prstGeom>
        </p:spPr>
      </p:pic>
      <p:pic>
        <p:nvPicPr>
          <p:cNvPr id="35" name="Picture 34" descr="A blue and orange rectangles&#10;&#10;AI-generated content may be incorrect.">
            <a:extLst>
              <a:ext uri="{FF2B5EF4-FFF2-40B4-BE49-F238E27FC236}">
                <a16:creationId xmlns:a16="http://schemas.microsoft.com/office/drawing/2014/main" id="{A464B546-5BFA-35F8-FBED-9B25FB4FF2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1448" y="3973886"/>
            <a:ext cx="666719" cy="681294"/>
          </a:xfrm>
          <a:prstGeom prst="rect">
            <a:avLst/>
          </a:prstGeom>
        </p:spPr>
      </p:pic>
      <p:pic>
        <p:nvPicPr>
          <p:cNvPr id="37" name="Picture 36" descr="A logo of a google drive&#10;&#10;AI-generated content may be incorrect.">
            <a:extLst>
              <a:ext uri="{FF2B5EF4-FFF2-40B4-BE49-F238E27FC236}">
                <a16:creationId xmlns:a16="http://schemas.microsoft.com/office/drawing/2014/main" id="{F09F8AE4-ED3D-2CA3-BEF0-59B293EE157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773" t="9199" r="-5355" b="10386"/>
          <a:stretch>
            <a:fillRect/>
          </a:stretch>
        </p:blipFill>
        <p:spPr>
          <a:xfrm>
            <a:off x="4583010" y="2256015"/>
            <a:ext cx="974708" cy="995086"/>
          </a:xfrm>
          <a:prstGeom prst="rect">
            <a:avLst/>
          </a:prstGeom>
        </p:spPr>
      </p:pic>
      <p:pic>
        <p:nvPicPr>
          <p:cNvPr id="39" name="Picture 38" descr="A white and black logo&#10;&#10;AI-generated content may be incorrect.">
            <a:extLst>
              <a:ext uri="{FF2B5EF4-FFF2-40B4-BE49-F238E27FC236}">
                <a16:creationId xmlns:a16="http://schemas.microsoft.com/office/drawing/2014/main" id="{F163C10A-A5F9-9F87-039A-04849A0782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0" y="3905521"/>
            <a:ext cx="837641" cy="83259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F9748C4F-7C72-AC56-5107-1786641E35D7}"/>
              </a:ext>
            </a:extLst>
          </p:cNvPr>
          <p:cNvGrpSpPr/>
          <p:nvPr/>
        </p:nvGrpSpPr>
        <p:grpSpPr>
          <a:xfrm>
            <a:off x="6350000" y="2275851"/>
            <a:ext cx="937511" cy="876401"/>
            <a:chOff x="6918037" y="2553999"/>
            <a:chExt cx="780493" cy="737856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44B0842-0996-1560-35E9-5F6E12FA9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2348" t="26552" r="7727" b="13917"/>
            <a:stretch>
              <a:fillRect/>
            </a:stretch>
          </p:blipFill>
          <p:spPr>
            <a:xfrm>
              <a:off x="6918037" y="3142095"/>
              <a:ext cx="780493" cy="14976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84BCF7A-8581-7A47-172A-9B8EB720D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273" t="8734" r="79892" b="8793"/>
            <a:stretch>
              <a:fillRect/>
            </a:stretch>
          </p:blipFill>
          <p:spPr>
            <a:xfrm>
              <a:off x="7010399" y="2553999"/>
              <a:ext cx="558093" cy="552104"/>
            </a:xfrm>
            <a:prstGeom prst="rect">
              <a:avLst/>
            </a:prstGeom>
          </p:spPr>
        </p:pic>
      </p:grpSp>
      <p:pic>
        <p:nvPicPr>
          <p:cNvPr id="45" name="Picture 44" descr="A blue dragon on a black background&#10;&#10;AI-generated content may be incorrect.">
            <a:extLst>
              <a:ext uri="{FF2B5EF4-FFF2-40B4-BE49-F238E27FC236}">
                <a16:creationId xmlns:a16="http://schemas.microsoft.com/office/drawing/2014/main" id="{F845D152-4664-FCC4-6579-F882680F6E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8904" y="2358837"/>
            <a:ext cx="1047173" cy="785091"/>
          </a:xfrm>
          <a:prstGeom prst="rect">
            <a:avLst/>
          </a:prstGeom>
        </p:spPr>
      </p:pic>
      <p:pic>
        <p:nvPicPr>
          <p:cNvPr id="47" name="Picture 46" descr="A logo of a seal&#10;&#10;AI-generated content may be incorrect.">
            <a:extLst>
              <a:ext uri="{FF2B5EF4-FFF2-40B4-BE49-F238E27FC236}">
                <a16:creationId xmlns:a16="http://schemas.microsoft.com/office/drawing/2014/main" id="{1B6009D7-F9CB-E1F7-B1FC-7F9EB3B2AC1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5957" r="17021" b="1686"/>
          <a:stretch>
            <a:fillRect/>
          </a:stretch>
        </p:blipFill>
        <p:spPr>
          <a:xfrm>
            <a:off x="6410625" y="5434467"/>
            <a:ext cx="742854" cy="559222"/>
          </a:xfrm>
          <a:prstGeom prst="rect">
            <a:avLst/>
          </a:prstGeom>
        </p:spPr>
      </p:pic>
      <p:pic>
        <p:nvPicPr>
          <p:cNvPr id="49" name="Picture 48" descr="A logo with a dolphin&#10;&#10;AI-generated content may be incorrect.">
            <a:extLst>
              <a:ext uri="{FF2B5EF4-FFF2-40B4-BE49-F238E27FC236}">
                <a16:creationId xmlns:a16="http://schemas.microsoft.com/office/drawing/2014/main" id="{D3F249B6-00E1-21D7-A92D-71230D011B2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5177" r="1286" b="25285"/>
          <a:stretch>
            <a:fillRect/>
          </a:stretch>
        </p:blipFill>
        <p:spPr>
          <a:xfrm>
            <a:off x="7399482" y="5426993"/>
            <a:ext cx="1141125" cy="567513"/>
          </a:xfrm>
          <a:prstGeom prst="rect">
            <a:avLst/>
          </a:prstGeom>
        </p:spPr>
      </p:pic>
      <p:pic>
        <p:nvPicPr>
          <p:cNvPr id="53" name="Picture 52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131E82E0-E8C3-6067-8377-4D43788FC79A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46" t="4841" r="-246" b="5246"/>
          <a:stretch>
            <a:fillRect/>
          </a:stretch>
        </p:blipFill>
        <p:spPr>
          <a:xfrm>
            <a:off x="6164119" y="3889838"/>
            <a:ext cx="1233058" cy="832356"/>
          </a:xfrm>
          <a:prstGeom prst="rect">
            <a:avLst/>
          </a:prstGeom>
        </p:spPr>
      </p:pic>
      <p:pic>
        <p:nvPicPr>
          <p:cNvPr id="55" name="Picture 54" descr="A logo with text on it&#10;&#10;AI-generated content may be incorrect.">
            <a:extLst>
              <a:ext uri="{FF2B5EF4-FFF2-40B4-BE49-F238E27FC236}">
                <a16:creationId xmlns:a16="http://schemas.microsoft.com/office/drawing/2014/main" id="{489C21FC-9BBB-44BA-6082-DF43623324A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11702" r="-140" b="9938"/>
          <a:stretch>
            <a:fillRect/>
          </a:stretch>
        </p:blipFill>
        <p:spPr>
          <a:xfrm>
            <a:off x="8577117" y="2342843"/>
            <a:ext cx="1036819" cy="815889"/>
          </a:xfrm>
          <a:prstGeom prst="rect">
            <a:avLst/>
          </a:prstGeom>
        </p:spPr>
      </p:pic>
      <p:pic>
        <p:nvPicPr>
          <p:cNvPr id="57" name="Picture 56" descr="A blue and black logo&#10;&#10;AI-generated content may be incorrect.">
            <a:extLst>
              <a:ext uri="{FF2B5EF4-FFF2-40B4-BE49-F238E27FC236}">
                <a16:creationId xmlns:a16="http://schemas.microsoft.com/office/drawing/2014/main" id="{C10277D8-C64A-525A-4201-091F9ACBD40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94437" y="3907083"/>
            <a:ext cx="1020619" cy="547255"/>
          </a:xfrm>
          <a:prstGeom prst="rect">
            <a:avLst/>
          </a:prstGeom>
        </p:spPr>
      </p:pic>
      <p:pic>
        <p:nvPicPr>
          <p:cNvPr id="59" name="Picture 58" descr="A logo of a powerpoint presentation&#10;&#10;AI-generated content may be incorrect.">
            <a:extLst>
              <a:ext uri="{FF2B5EF4-FFF2-40B4-BE49-F238E27FC236}">
                <a16:creationId xmlns:a16="http://schemas.microsoft.com/office/drawing/2014/main" id="{E8929A9B-2563-A336-3A7D-D3EFC09BEBE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2455" t="13741" r="13255" b="13390"/>
          <a:stretch>
            <a:fillRect/>
          </a:stretch>
        </p:blipFill>
        <p:spPr>
          <a:xfrm>
            <a:off x="10452475" y="2267744"/>
            <a:ext cx="718604" cy="685128"/>
          </a:xfrm>
          <a:prstGeom prst="rect">
            <a:avLst/>
          </a:prstGeom>
        </p:spPr>
      </p:pic>
      <p:pic>
        <p:nvPicPr>
          <p:cNvPr id="61" name="Picture 60" descr="A blue and white logo&#10;&#10;AI-generated content may be incorrect.">
            <a:extLst>
              <a:ext uri="{FF2B5EF4-FFF2-40B4-BE49-F238E27FC236}">
                <a16:creationId xmlns:a16="http://schemas.microsoft.com/office/drawing/2014/main" id="{DE99BCD6-A592-6D3A-5216-94BF0862440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30840" y="4308634"/>
            <a:ext cx="706120" cy="716280"/>
          </a:xfrm>
          <a:prstGeom prst="rect">
            <a:avLst/>
          </a:prstGeom>
        </p:spPr>
      </p:pic>
      <p:pic>
        <p:nvPicPr>
          <p:cNvPr id="63" name="Picture 62" descr="A green box with a white x on it&#10;&#10;AI-generated content may be incorrect.">
            <a:extLst>
              <a:ext uri="{FF2B5EF4-FFF2-40B4-BE49-F238E27FC236}">
                <a16:creationId xmlns:a16="http://schemas.microsoft.com/office/drawing/2014/main" id="{A237370F-AADB-C077-CEA3-0027DF224A0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31667" y="3318034"/>
            <a:ext cx="679067" cy="64008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5E3BF474-C2E0-721B-6DAF-EA13F9445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530840" y="5370354"/>
            <a:ext cx="706120" cy="736600"/>
          </a:xfrm>
          <a:prstGeom prst="rect">
            <a:avLst/>
          </a:prstGeom>
        </p:spPr>
      </p:pic>
      <p:sp>
        <p:nvSpPr>
          <p:cNvPr id="67" name="직사각형 82">
            <a:extLst>
              <a:ext uri="{FF2B5EF4-FFF2-40B4-BE49-F238E27FC236}">
                <a16:creationId xmlns:a16="http://schemas.microsoft.com/office/drawing/2014/main" id="{D69EE6A3-DD52-C928-53BA-D5C56B011D25}"/>
              </a:ext>
            </a:extLst>
          </p:cNvPr>
          <p:cNvSpPr/>
          <p:nvPr/>
        </p:nvSpPr>
        <p:spPr>
          <a:xfrm>
            <a:off x="314537" y="3149605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Packet Tracer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8.2.2.400</a:t>
            </a:r>
            <a:endParaRPr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9" name="직사각형 82">
            <a:extLst>
              <a:ext uri="{FF2B5EF4-FFF2-40B4-BE49-F238E27FC236}">
                <a16:creationId xmlns:a16="http://schemas.microsoft.com/office/drawing/2014/main" id="{A720A8BD-32CC-16E1-079A-12B840E829A4}"/>
              </a:ext>
            </a:extLst>
          </p:cNvPr>
          <p:cNvSpPr/>
          <p:nvPr/>
        </p:nvSpPr>
        <p:spPr>
          <a:xfrm>
            <a:off x="1400027" y="3149604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GNS3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1.5.3.0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1" name="직사각형 82">
            <a:extLst>
              <a:ext uri="{FF2B5EF4-FFF2-40B4-BE49-F238E27FC236}">
                <a16:creationId xmlns:a16="http://schemas.microsoft.com/office/drawing/2014/main" id="{46C76DC5-2F2C-860F-E21C-8D9DF5062E3C}"/>
              </a:ext>
            </a:extLst>
          </p:cNvPr>
          <p:cNvSpPr/>
          <p:nvPr/>
        </p:nvSpPr>
        <p:spPr>
          <a:xfrm>
            <a:off x="2521460" y="3160386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Putty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0.83.0.0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3" name="직사각형 82">
            <a:extLst>
              <a:ext uri="{FF2B5EF4-FFF2-40B4-BE49-F238E27FC236}">
                <a16:creationId xmlns:a16="http://schemas.microsoft.com/office/drawing/2014/main" id="{990937D5-3802-07FE-432B-DA63FB04FE12}"/>
              </a:ext>
            </a:extLst>
          </p:cNvPr>
          <p:cNvSpPr/>
          <p:nvPr/>
        </p:nvSpPr>
        <p:spPr>
          <a:xfrm>
            <a:off x="242650" y="4720330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NMAP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7.94 SVN</a:t>
            </a:r>
            <a:endParaRPr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5" name="직사각형 82">
            <a:extLst>
              <a:ext uri="{FF2B5EF4-FFF2-40B4-BE49-F238E27FC236}">
                <a16:creationId xmlns:a16="http://schemas.microsoft.com/office/drawing/2014/main" id="{96482ACA-004F-8F12-6CB2-2C3ACF85E51B}"/>
              </a:ext>
            </a:extLst>
          </p:cNvPr>
          <p:cNvSpPr/>
          <p:nvPr/>
        </p:nvSpPr>
        <p:spPr>
          <a:xfrm>
            <a:off x="1353300" y="4738301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Wireshark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4.4.9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7" name="직사각형 82">
            <a:extLst>
              <a:ext uri="{FF2B5EF4-FFF2-40B4-BE49-F238E27FC236}">
                <a16:creationId xmlns:a16="http://schemas.microsoft.com/office/drawing/2014/main" id="{6193914D-DFA8-E54C-A08E-36310EC5CA65}"/>
              </a:ext>
            </a:extLst>
          </p:cNvPr>
          <p:cNvSpPr/>
          <p:nvPr/>
        </p:nvSpPr>
        <p:spPr>
          <a:xfrm>
            <a:off x="2539431" y="4738300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VMware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17.6.2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9" name="직사각형 82">
            <a:extLst>
              <a:ext uri="{FF2B5EF4-FFF2-40B4-BE49-F238E27FC236}">
                <a16:creationId xmlns:a16="http://schemas.microsoft.com/office/drawing/2014/main" id="{39C91971-B384-8085-C183-25F4870D40B7}"/>
              </a:ext>
            </a:extLst>
          </p:cNvPr>
          <p:cNvSpPr/>
          <p:nvPr/>
        </p:nvSpPr>
        <p:spPr>
          <a:xfrm>
            <a:off x="4412082" y="3250244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Google Drive</a:t>
            </a:r>
            <a:endParaRPr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1" name="직사각형 82">
            <a:extLst>
              <a:ext uri="{FF2B5EF4-FFF2-40B4-BE49-F238E27FC236}">
                <a16:creationId xmlns:a16="http://schemas.microsoft.com/office/drawing/2014/main" id="{89BD524B-BAB1-FB1C-305F-902CEDD799FE}"/>
              </a:ext>
            </a:extLst>
          </p:cNvPr>
          <p:cNvSpPr/>
          <p:nvPr/>
        </p:nvSpPr>
        <p:spPr>
          <a:xfrm>
            <a:off x="4430053" y="4770649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Notion</a:t>
            </a:r>
            <a:endParaRPr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3E283C4-A0D5-87C0-7D23-A883A1F84F4B}"/>
              </a:ext>
            </a:extLst>
          </p:cNvPr>
          <p:cNvSpPr/>
          <p:nvPr/>
        </p:nvSpPr>
        <p:spPr>
          <a:xfrm>
            <a:off x="6158932" y="3160386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Rocky Linux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8.10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5" name="직사각형 82">
            <a:extLst>
              <a:ext uri="{FF2B5EF4-FFF2-40B4-BE49-F238E27FC236}">
                <a16:creationId xmlns:a16="http://schemas.microsoft.com/office/drawing/2014/main" id="{95B83CC5-F73F-46AC-9CF6-30DA10243A2B}"/>
              </a:ext>
            </a:extLst>
          </p:cNvPr>
          <p:cNvSpPr/>
          <p:nvPr/>
        </p:nvSpPr>
        <p:spPr>
          <a:xfrm>
            <a:off x="7265988" y="3160385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KALI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2024.04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직사각형 82">
            <a:extLst>
              <a:ext uri="{FF2B5EF4-FFF2-40B4-BE49-F238E27FC236}">
                <a16:creationId xmlns:a16="http://schemas.microsoft.com/office/drawing/2014/main" id="{23D2CE8B-08B6-FF04-890A-80F88DE8A89A}"/>
              </a:ext>
            </a:extLst>
          </p:cNvPr>
          <p:cNvSpPr/>
          <p:nvPr/>
        </p:nvSpPr>
        <p:spPr>
          <a:xfrm>
            <a:off x="8437742" y="3160384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Ubuntu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0.83.0.0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직사각형 82">
            <a:extLst>
              <a:ext uri="{FF2B5EF4-FFF2-40B4-BE49-F238E27FC236}">
                <a16:creationId xmlns:a16="http://schemas.microsoft.com/office/drawing/2014/main" id="{5206063C-3735-400F-06BF-7BBAB5799596}"/>
              </a:ext>
            </a:extLst>
          </p:cNvPr>
          <p:cNvSpPr/>
          <p:nvPr/>
        </p:nvSpPr>
        <p:spPr>
          <a:xfrm>
            <a:off x="5958635" y="4734564"/>
            <a:ext cx="1645652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Windows Server</a:t>
            </a:r>
            <a:br>
              <a:rPr lang="ko-KR" altLang="en-US" sz="105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2016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1" name="직사각형 82">
            <a:extLst>
              <a:ext uri="{FF2B5EF4-FFF2-40B4-BE49-F238E27FC236}">
                <a16:creationId xmlns:a16="http://schemas.microsoft.com/office/drawing/2014/main" id="{79238E62-DB47-F586-AF22-E30D1056C7BB}"/>
              </a:ext>
            </a:extLst>
          </p:cNvPr>
          <p:cNvSpPr/>
          <p:nvPr/>
        </p:nvSpPr>
        <p:spPr>
          <a:xfrm>
            <a:off x="7260420" y="4734563"/>
            <a:ext cx="1361769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Windows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11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3" name="직사각형 82">
            <a:extLst>
              <a:ext uri="{FF2B5EF4-FFF2-40B4-BE49-F238E27FC236}">
                <a16:creationId xmlns:a16="http://schemas.microsoft.com/office/drawing/2014/main" id="{9008BEA9-E8A8-2A45-FB1F-982C05CE91E8}"/>
              </a:ext>
            </a:extLst>
          </p:cNvPr>
          <p:cNvSpPr/>
          <p:nvPr/>
        </p:nvSpPr>
        <p:spPr>
          <a:xfrm>
            <a:off x="8448523" y="4738297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Php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7.2.24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5" name="직사각형 82">
            <a:extLst>
              <a:ext uri="{FF2B5EF4-FFF2-40B4-BE49-F238E27FC236}">
                <a16:creationId xmlns:a16="http://schemas.microsoft.com/office/drawing/2014/main" id="{6EC2C0E7-DB12-64F9-A6AB-EE2B16A82BE4}"/>
              </a:ext>
            </a:extLst>
          </p:cNvPr>
          <p:cNvSpPr/>
          <p:nvPr/>
        </p:nvSpPr>
        <p:spPr>
          <a:xfrm>
            <a:off x="6158928" y="5995821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MariaDB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17.6.2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7" name="직사각형 82">
            <a:extLst>
              <a:ext uri="{FF2B5EF4-FFF2-40B4-BE49-F238E27FC236}">
                <a16:creationId xmlns:a16="http://schemas.microsoft.com/office/drawing/2014/main" id="{5A0161E0-B2FC-56DA-53FC-C3858383C552}"/>
              </a:ext>
            </a:extLst>
          </p:cNvPr>
          <p:cNvSpPr/>
          <p:nvPr/>
        </p:nvSpPr>
        <p:spPr>
          <a:xfrm>
            <a:off x="7312710" y="5995820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MySQL</a:t>
            </a:r>
            <a:br>
              <a:rPr lang="ko-KR" altLang="en-US" sz="1050" b="1" dirty="0">
                <a:latin typeface="Noto Sans KR Medium" panose="020B0200000000000000" pitchFamily="50" charset="-127"/>
                <a:ea typeface="Noto Sans KR Medium"/>
              </a:rPr>
            </a:b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17.6.2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9" name="직사각형 82">
            <a:extLst>
              <a:ext uri="{FF2B5EF4-FFF2-40B4-BE49-F238E27FC236}">
                <a16:creationId xmlns:a16="http://schemas.microsoft.com/office/drawing/2014/main" id="{BEC7824E-F1AF-5101-2EE8-BCC8B73B9EF5}"/>
              </a:ext>
            </a:extLst>
          </p:cNvPr>
          <p:cNvSpPr/>
          <p:nvPr/>
        </p:nvSpPr>
        <p:spPr>
          <a:xfrm>
            <a:off x="10155692" y="2955291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PPT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1" name="직사각형 82">
            <a:extLst>
              <a:ext uri="{FF2B5EF4-FFF2-40B4-BE49-F238E27FC236}">
                <a16:creationId xmlns:a16="http://schemas.microsoft.com/office/drawing/2014/main" id="{8026D650-D403-EAFD-3C65-09CBD1E85964}"/>
              </a:ext>
            </a:extLst>
          </p:cNvPr>
          <p:cNvSpPr/>
          <p:nvPr/>
        </p:nvSpPr>
        <p:spPr>
          <a:xfrm>
            <a:off x="10211721" y="3993703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Excel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3" name="직사각형 82">
            <a:extLst>
              <a:ext uri="{FF2B5EF4-FFF2-40B4-BE49-F238E27FC236}">
                <a16:creationId xmlns:a16="http://schemas.microsoft.com/office/drawing/2014/main" id="{778B94EB-D0B3-0112-1B53-BAC20950AFB9}"/>
              </a:ext>
            </a:extLst>
          </p:cNvPr>
          <p:cNvSpPr/>
          <p:nvPr/>
        </p:nvSpPr>
        <p:spPr>
          <a:xfrm>
            <a:off x="10211721" y="5026991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Word</a:t>
            </a:r>
            <a:endParaRPr lang="ko-KR" altLang="en-US" sz="10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5" name="직사각형 82">
            <a:extLst>
              <a:ext uri="{FF2B5EF4-FFF2-40B4-BE49-F238E27FC236}">
                <a16:creationId xmlns:a16="http://schemas.microsoft.com/office/drawing/2014/main" id="{B61C7C97-ABB1-7FB0-B342-06FF5099D8DD}"/>
              </a:ext>
            </a:extLst>
          </p:cNvPr>
          <p:cNvSpPr/>
          <p:nvPr/>
        </p:nvSpPr>
        <p:spPr>
          <a:xfrm>
            <a:off x="10223690" y="6167996"/>
            <a:ext cx="1316947" cy="50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05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한글</a:t>
            </a:r>
            <a:endParaRPr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" name="Picture 1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1C010E0D-4FEA-5A0A-6D83-61509A366762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9953" r="84" b="10532"/>
          <a:stretch>
            <a:fillRect/>
          </a:stretch>
        </p:blipFill>
        <p:spPr>
          <a:xfrm>
            <a:off x="7475238" y="3941782"/>
            <a:ext cx="900567" cy="69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61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258A-5657-0989-35DE-EE81CE7B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0A3E3069-A9C2-906F-B1D2-62E252F15815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17A64D3-D99D-7237-DC48-B8BBF8981223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프로젝트 기간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6" name="그룹 4">
            <a:extLst>
              <a:ext uri="{FF2B5EF4-FFF2-40B4-BE49-F238E27FC236}">
                <a16:creationId xmlns:a16="http://schemas.microsoft.com/office/drawing/2014/main" id="{B00CD752-822F-4EA9-0013-E1AA1F57A345}"/>
              </a:ext>
            </a:extLst>
          </p:cNvPr>
          <p:cNvGrpSpPr/>
          <p:nvPr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4F12ED0C-E23C-CDAD-5A54-89DB690E16D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3097474C-4D6C-E355-8F83-76BAE87A874B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970AC8C2-6335-7C14-D75A-9441C1902BF8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01B27E-863C-3A2E-46B0-4C7722521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38984"/>
              </p:ext>
            </p:extLst>
          </p:nvPr>
        </p:nvGraphicFramePr>
        <p:xfrm>
          <a:off x="815788" y="1532965"/>
          <a:ext cx="10629052" cy="4873768"/>
        </p:xfrm>
        <a:graphic>
          <a:graphicData uri="http://schemas.openxmlformats.org/drawingml/2006/table">
            <a:tbl>
              <a:tblPr firstRow="1" bandRow="1"/>
              <a:tblGrid>
                <a:gridCol w="1193187">
                  <a:extLst>
                    <a:ext uri="{9D8B030D-6E8A-4147-A177-3AD203B41FA5}">
                      <a16:colId xmlns:a16="http://schemas.microsoft.com/office/drawing/2014/main" val="188918969"/>
                    </a:ext>
                  </a:extLst>
                </a:gridCol>
                <a:gridCol w="1500639">
                  <a:extLst>
                    <a:ext uri="{9D8B030D-6E8A-4147-A177-3AD203B41FA5}">
                      <a16:colId xmlns:a16="http://schemas.microsoft.com/office/drawing/2014/main" val="572493616"/>
                    </a:ext>
                  </a:extLst>
                </a:gridCol>
                <a:gridCol w="492713">
                  <a:extLst>
                    <a:ext uri="{9D8B030D-6E8A-4147-A177-3AD203B41FA5}">
                      <a16:colId xmlns:a16="http://schemas.microsoft.com/office/drawing/2014/main" val="4059767035"/>
                    </a:ext>
                  </a:extLst>
                </a:gridCol>
                <a:gridCol w="492713">
                  <a:extLst>
                    <a:ext uri="{9D8B030D-6E8A-4147-A177-3AD203B41FA5}">
                      <a16:colId xmlns:a16="http://schemas.microsoft.com/office/drawing/2014/main" val="212504754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79181161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9488568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08745313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20536931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935145330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664617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630951190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22752673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08418258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64695481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1277828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95812472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6332694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54952767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0833871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80945067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1247791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3297633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397272206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512363533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88772597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45646391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06328378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10168218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347721283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84098651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732542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19187082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1508658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833793984"/>
                    </a:ext>
                  </a:extLst>
                </a:gridCol>
              </a:tblGrid>
              <a:tr h="34749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Task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Start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End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6w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380257"/>
                  </a:ext>
                </a:extLst>
              </a:tr>
              <a:tr h="291142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프로젝트</a:t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관리</a:t>
                      </a:r>
                      <a:endParaRPr lang="en-US" altLang="ko-KR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제안서 작성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338445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일정 수립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747376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킥 오프 미팅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75758"/>
                  </a:ext>
                </a:extLst>
              </a:tr>
              <a:tr h="385059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취약점 분석 및 평가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점검대상 식별 및 분류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101688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본 점검 수행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687864"/>
                  </a:ext>
                </a:extLst>
              </a:tr>
              <a:tr h="40384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위험 분석</a:t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평가 수행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193958"/>
                  </a:ext>
                </a:extLst>
              </a:tr>
              <a:tr h="291142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보안대책 </a:t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수립 및 조치지원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개선 방안 도출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4823865"/>
                  </a:ext>
                </a:extLst>
              </a:tr>
              <a:tr h="403843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인프라 구성 및 </a:t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시스템 구축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(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보안설정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)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300045"/>
                  </a:ext>
                </a:extLst>
              </a:tr>
              <a:tr h="403843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인프라 취약점 </a:t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이행점검 수행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262336"/>
                  </a:ext>
                </a:extLst>
              </a:tr>
              <a:tr h="291142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err="1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모의해킹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9863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 보안설정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55558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 이행점검 수행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819728"/>
                  </a:ext>
                </a:extLst>
              </a:tr>
              <a:tr h="291142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문서화 </a:t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및 보고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문서화 작업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838073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최종 보고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32793"/>
                  </a:ext>
                </a:extLst>
              </a:tr>
            </a:tbl>
          </a:graphicData>
        </a:graphic>
      </p:graphicFrame>
      <p:sp>
        <p:nvSpPr>
          <p:cNvPr id="10" name="직사각형 82">
            <a:extLst>
              <a:ext uri="{FF2B5EF4-FFF2-40B4-BE49-F238E27FC236}">
                <a16:creationId xmlns:a16="http://schemas.microsoft.com/office/drawing/2014/main" id="{CADB470B-A935-81D0-EBD8-A9758250F3A8}"/>
              </a:ext>
            </a:extLst>
          </p:cNvPr>
          <p:cNvSpPr/>
          <p:nvPr/>
        </p:nvSpPr>
        <p:spPr>
          <a:xfrm>
            <a:off x="8315620" y="1158724"/>
            <a:ext cx="3252920" cy="240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1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총 수행 기간 : 2026.06.00 ~ 2026.07.00 (총 00일)</a:t>
            </a:r>
            <a:endParaRPr lang="ko-KR" altLang="en-US" sz="11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07515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50A45-180A-E6EF-2175-8370F694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719CB523-027A-96DD-0FD7-CE9E34B3F908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F0F749F-3BB9-732D-281B-3D06FFD67037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수행 인력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6" name="그룹 4">
            <a:extLst>
              <a:ext uri="{FF2B5EF4-FFF2-40B4-BE49-F238E27FC236}">
                <a16:creationId xmlns:a16="http://schemas.microsoft.com/office/drawing/2014/main" id="{7D8CF081-AE89-471C-E8B0-9AC7413EFFA6}"/>
              </a:ext>
            </a:extLst>
          </p:cNvPr>
          <p:cNvGrpSpPr/>
          <p:nvPr/>
        </p:nvGrpSpPr>
        <p:grpSpPr>
          <a:xfrm>
            <a:off x="3324214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A765E8C3-75F0-A37C-E179-6C5BA12A4CF9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86E60FB6-6F2D-0312-5427-AC94E29D5795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0D559C73-6F20-0391-F73E-B31975F634E1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C813D69-4868-B95B-014F-5331D9C06E05}"/>
              </a:ext>
            </a:extLst>
          </p:cNvPr>
          <p:cNvGrpSpPr/>
          <p:nvPr/>
        </p:nvGrpSpPr>
        <p:grpSpPr>
          <a:xfrm>
            <a:off x="871876" y="2416419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E7B4AC09-CC08-C45E-A107-8154C86B883E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BCE8F01E-D21D-178B-BF1B-3E1288EDDC51}"/>
                </a:ext>
              </a:extLst>
            </p:cNvPr>
            <p:cNvSpPr/>
            <p:nvPr/>
          </p:nvSpPr>
          <p:spPr>
            <a:xfrm>
              <a:off x="945792" y="1828715"/>
              <a:ext cx="2354058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서서</a:t>
              </a: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울 (PM)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7C8ADDF-1598-4765-CE9A-4D8CB3ACFD06}"/>
              </a:ext>
            </a:extLst>
          </p:cNvPr>
          <p:cNvGrpSpPr/>
          <p:nvPr/>
        </p:nvGrpSpPr>
        <p:grpSpPr>
          <a:xfrm>
            <a:off x="3135045" y="2416418"/>
            <a:ext cx="1392461" cy="275090"/>
            <a:chOff x="748985" y="1828715"/>
            <a:chExt cx="2753586" cy="330841"/>
          </a:xfrm>
        </p:grpSpPr>
        <p:cxnSp>
          <p:nvCxnSpPr>
            <p:cNvPr id="104" name="직선 연결선 12">
              <a:extLst>
                <a:ext uri="{FF2B5EF4-FFF2-40B4-BE49-F238E27FC236}">
                  <a16:creationId xmlns:a16="http://schemas.microsoft.com/office/drawing/2014/main" id="{66FDBDFC-CDC0-26EC-A0E4-712616334A19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직사각형 43">
              <a:extLst>
                <a:ext uri="{FF2B5EF4-FFF2-40B4-BE49-F238E27FC236}">
                  <a16:creationId xmlns:a16="http://schemas.microsoft.com/office/drawing/2014/main" id="{3E6F7C72-F5F5-3616-7E95-DCE281FD9ED1}"/>
                </a:ext>
              </a:extLst>
            </p:cNvPr>
            <p:cNvSpPr/>
            <p:nvPr/>
          </p:nvSpPr>
          <p:spPr>
            <a:xfrm>
              <a:off x="1130507" y="1828715"/>
              <a:ext cx="2187087" cy="330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윤철</a:t>
              </a: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민 (PL)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9E1D0FC-BEB0-1095-70A8-865965504951}"/>
              </a:ext>
            </a:extLst>
          </p:cNvPr>
          <p:cNvGrpSpPr/>
          <p:nvPr/>
        </p:nvGrpSpPr>
        <p:grpSpPr>
          <a:xfrm>
            <a:off x="5398213" y="2429263"/>
            <a:ext cx="1392461" cy="223721"/>
            <a:chOff x="748985" y="1844161"/>
            <a:chExt cx="2753586" cy="269061"/>
          </a:xfrm>
        </p:grpSpPr>
        <p:cxnSp>
          <p:nvCxnSpPr>
            <p:cNvPr id="108" name="직선 연결선 12">
              <a:extLst>
                <a:ext uri="{FF2B5EF4-FFF2-40B4-BE49-F238E27FC236}">
                  <a16:creationId xmlns:a16="http://schemas.microsoft.com/office/drawing/2014/main" id="{1163536A-D3D6-D8D3-E155-1DB1FED0B292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직사각형 43">
              <a:extLst>
                <a:ext uri="{FF2B5EF4-FFF2-40B4-BE49-F238E27FC236}">
                  <a16:creationId xmlns:a16="http://schemas.microsoft.com/office/drawing/2014/main" id="{1CB9F59F-099C-33C1-D4B0-7C248A7B5B4C}"/>
                </a:ext>
              </a:extLst>
            </p:cNvPr>
            <p:cNvSpPr/>
            <p:nvPr/>
          </p:nvSpPr>
          <p:spPr>
            <a:xfrm>
              <a:off x="1455984" y="1844161"/>
              <a:ext cx="1342038" cy="2690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오명근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3914715-F210-2827-FBC4-2DA0866E6B86}"/>
              </a:ext>
            </a:extLst>
          </p:cNvPr>
          <p:cNvGrpSpPr/>
          <p:nvPr/>
        </p:nvGrpSpPr>
        <p:grpSpPr>
          <a:xfrm>
            <a:off x="7665663" y="2433540"/>
            <a:ext cx="1392461" cy="236563"/>
            <a:chOff x="748985" y="1849308"/>
            <a:chExt cx="2753586" cy="284506"/>
          </a:xfrm>
        </p:grpSpPr>
        <p:cxnSp>
          <p:nvCxnSpPr>
            <p:cNvPr id="111" name="직선 연결선 12">
              <a:extLst>
                <a:ext uri="{FF2B5EF4-FFF2-40B4-BE49-F238E27FC236}">
                  <a16:creationId xmlns:a16="http://schemas.microsoft.com/office/drawing/2014/main" id="{C989C08A-BD47-2B39-1A54-0B11BAC7F52E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직사각형 43">
              <a:extLst>
                <a:ext uri="{FF2B5EF4-FFF2-40B4-BE49-F238E27FC236}">
                  <a16:creationId xmlns:a16="http://schemas.microsoft.com/office/drawing/2014/main" id="{32BB293E-CDED-45CE-D078-7DFE4583BBCA}"/>
                </a:ext>
              </a:extLst>
            </p:cNvPr>
            <p:cNvSpPr/>
            <p:nvPr/>
          </p:nvSpPr>
          <p:spPr>
            <a:xfrm>
              <a:off x="1414166" y="1849308"/>
              <a:ext cx="1425676" cy="2845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​서정원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BF9B880-1CD9-E261-99AD-7B7DAC0284E8}"/>
              </a:ext>
            </a:extLst>
          </p:cNvPr>
          <p:cNvGrpSpPr/>
          <p:nvPr/>
        </p:nvGrpSpPr>
        <p:grpSpPr>
          <a:xfrm>
            <a:off x="9928831" y="2416415"/>
            <a:ext cx="1392461" cy="219441"/>
            <a:chOff x="748985" y="1833862"/>
            <a:chExt cx="2753586" cy="263914"/>
          </a:xfrm>
        </p:grpSpPr>
        <p:cxnSp>
          <p:nvCxnSpPr>
            <p:cNvPr id="114" name="직선 연결선 12">
              <a:extLst>
                <a:ext uri="{FF2B5EF4-FFF2-40B4-BE49-F238E27FC236}">
                  <a16:creationId xmlns:a16="http://schemas.microsoft.com/office/drawing/2014/main" id="{A1BDA436-FA87-CF34-59E3-9F08D323FAFA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직사각형 43">
              <a:extLst>
                <a:ext uri="{FF2B5EF4-FFF2-40B4-BE49-F238E27FC236}">
                  <a16:creationId xmlns:a16="http://schemas.microsoft.com/office/drawing/2014/main" id="{14A1A02E-F198-ADBE-923E-2BE44A22047F}"/>
                </a:ext>
              </a:extLst>
            </p:cNvPr>
            <p:cNvSpPr/>
            <p:nvPr/>
          </p:nvSpPr>
          <p:spPr>
            <a:xfrm>
              <a:off x="1447620" y="1833862"/>
              <a:ext cx="1342038" cy="263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이주환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151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713550" y="3251982"/>
            <a:ext cx="1706508" cy="279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각자가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작성 예정 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입니다.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52" name="직사각형 82">
            <a:extLst>
              <a:ext uri="{FF2B5EF4-FFF2-40B4-BE49-F238E27FC236}">
                <a16:creationId xmlns:a16="http://schemas.microsoft.com/office/drawing/2014/main" id="{5C4305BB-CE38-0A59-AA93-02A5A2AC18EE}"/>
              </a:ext>
            </a:extLst>
          </p:cNvPr>
          <p:cNvSpPr/>
          <p:nvPr/>
        </p:nvSpPr>
        <p:spPr>
          <a:xfrm>
            <a:off x="2982426" y="3251981"/>
            <a:ext cx="1706508" cy="279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각자가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작성 예정 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ea typeface="noto sans kr medium"/>
              </a:rPr>
              <a:t>입니다.</a:t>
            </a:r>
            <a:endParaRPr lang="ko-KR"/>
          </a:p>
        </p:txBody>
      </p:sp>
      <p:sp>
        <p:nvSpPr>
          <p:cNvPr id="153" name="직사각형 82">
            <a:extLst>
              <a:ext uri="{FF2B5EF4-FFF2-40B4-BE49-F238E27FC236}">
                <a16:creationId xmlns:a16="http://schemas.microsoft.com/office/drawing/2014/main" id="{FDDAF5C1-FC18-4EBB-E3D5-D71761389F29}"/>
              </a:ext>
            </a:extLst>
          </p:cNvPr>
          <p:cNvSpPr/>
          <p:nvPr/>
        </p:nvSpPr>
        <p:spPr>
          <a:xfrm>
            <a:off x="5242741" y="3251982"/>
            <a:ext cx="1706508" cy="279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각자가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작성 예정 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ea typeface="noto sans kr medium"/>
              </a:rPr>
              <a:t>입니다.</a:t>
            </a:r>
            <a:endParaRPr lang="ko-KR"/>
          </a:p>
        </p:txBody>
      </p:sp>
      <p:sp>
        <p:nvSpPr>
          <p:cNvPr id="155" name="직사각형 82">
            <a:extLst>
              <a:ext uri="{FF2B5EF4-FFF2-40B4-BE49-F238E27FC236}">
                <a16:creationId xmlns:a16="http://schemas.microsoft.com/office/drawing/2014/main" id="{1BAE97C3-6581-18BD-4FAC-5B30CA6D80C3}"/>
              </a:ext>
            </a:extLst>
          </p:cNvPr>
          <p:cNvSpPr/>
          <p:nvPr/>
        </p:nvSpPr>
        <p:spPr>
          <a:xfrm>
            <a:off x="7507335" y="3251980"/>
            <a:ext cx="1706508" cy="279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각자가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작성 예정 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ea typeface="noto sans kr medium"/>
              </a:rPr>
              <a:t>입니다.</a:t>
            </a:r>
            <a:endParaRPr lang="ko-KR"/>
          </a:p>
        </p:txBody>
      </p:sp>
      <p:sp>
        <p:nvSpPr>
          <p:cNvPr id="156" name="직사각형 82">
            <a:extLst>
              <a:ext uri="{FF2B5EF4-FFF2-40B4-BE49-F238E27FC236}">
                <a16:creationId xmlns:a16="http://schemas.microsoft.com/office/drawing/2014/main" id="{E562A86B-A254-188E-3D0A-6A20CC481D6D}"/>
              </a:ext>
            </a:extLst>
          </p:cNvPr>
          <p:cNvSpPr/>
          <p:nvPr/>
        </p:nvSpPr>
        <p:spPr>
          <a:xfrm>
            <a:off x="9776212" y="3251981"/>
            <a:ext cx="1706508" cy="279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각자가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작성 예정 </a:t>
            </a:r>
            <a:endParaRPr lang="ko-KR" sz="130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  <a:defRPr/>
            </a:pPr>
            <a:r>
              <a:rPr lang="ko-KR" sz="1300" b="1">
                <a:solidFill>
                  <a:schemeClr val="tx1"/>
                </a:solidFill>
                <a:ea typeface="noto sans kr medium"/>
              </a:rPr>
              <a:t>입니다.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017438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257DA-A119-EFAD-4BE4-C161D9C29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9D7317D-8D60-E7E3-F03D-D82115CF413F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B937C5-D8E1-6031-493D-C11E27275918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1" name="그룹 60">
            <a:extLst>
              <a:ext uri="{FF2B5EF4-FFF2-40B4-BE49-F238E27FC236}">
                <a16:creationId xmlns:a16="http://schemas.microsoft.com/office/drawing/2014/main" id="{4E1CD4C7-949B-7348-5EB4-5FC8A7AC96D0}"/>
              </a:ext>
            </a:extLst>
          </p:cNvPr>
          <p:cNvGrpSpPr/>
          <p:nvPr/>
        </p:nvGrpSpPr>
        <p:grpSpPr>
          <a:xfrm>
            <a:off x="4664767" y="3073254"/>
            <a:ext cx="2898320" cy="861075"/>
            <a:chOff x="857051" y="2430923"/>
            <a:chExt cx="1795663" cy="520416"/>
          </a:xfrm>
        </p:grpSpPr>
        <p:sp>
          <p:nvSpPr>
            <p:cNvPr id="3" name="타원 26">
              <a:extLst>
                <a:ext uri="{FF2B5EF4-FFF2-40B4-BE49-F238E27FC236}">
                  <a16:creationId xmlns:a16="http://schemas.microsoft.com/office/drawing/2014/main" id="{70391268-9E70-8EFE-DB72-A5889522CEFE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30">
              <a:extLst>
                <a:ext uri="{FF2B5EF4-FFF2-40B4-BE49-F238E27FC236}">
                  <a16:creationId xmlns:a16="http://schemas.microsoft.com/office/drawing/2014/main" id="{7E9ABD0B-D393-5095-1189-5F4EFDB36C30}"/>
                </a:ext>
              </a:extLst>
            </p:cNvPr>
            <p:cNvSpPr/>
            <p:nvPr/>
          </p:nvSpPr>
          <p:spPr>
            <a:xfrm>
              <a:off x="857051" y="2444196"/>
              <a:ext cx="478715" cy="40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>
                  <a:solidFill>
                    <a:prstClr val="white"/>
                  </a:solidFill>
                  <a:latin typeface="맑은 고딕"/>
                  <a:ea typeface="맑은 고딕"/>
                </a:rPr>
                <a:t>02</a:t>
              </a:r>
              <a:endParaRPr lang="en-US" altLang="ko-KR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9" name="직선 연결선 34">
              <a:extLst>
                <a:ext uri="{FF2B5EF4-FFF2-40B4-BE49-F238E27FC236}">
                  <a16:creationId xmlns:a16="http://schemas.microsoft.com/office/drawing/2014/main" id="{DBA15ED7-7758-7228-2604-FB31D6DC1F41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10" name="직사각형 43">
              <a:extLst>
                <a:ext uri="{FF2B5EF4-FFF2-40B4-BE49-F238E27FC236}">
                  <a16:creationId xmlns:a16="http://schemas.microsoft.com/office/drawing/2014/main" id="{115B4FD4-F722-DDE3-845A-8F8859874072}"/>
                </a:ext>
              </a:extLst>
            </p:cNvPr>
            <p:cNvSpPr/>
            <p:nvPr/>
          </p:nvSpPr>
          <p:spPr>
            <a:xfrm>
              <a:off x="1335766" y="2430923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2400" b="1">
                  <a:solidFill>
                    <a:prstClr val="white"/>
                  </a:solidFill>
                  <a:ea typeface="Noto Sans KR Black"/>
                </a:rPr>
                <a:t>분석 및 점검</a:t>
              </a:r>
              <a:endParaRPr lang="ko-KR" altLang="en-US" sz="2400" b="1" dirty="0">
                <a:solidFill>
                  <a:prstClr val="white"/>
                </a:solidFill>
                <a:ea typeface="Noto Sans KR Black"/>
              </a:endParaRPr>
            </a:p>
          </p:txBody>
        </p:sp>
      </p:grpSp>
      <p:grpSp>
        <p:nvGrpSpPr>
          <p:cNvPr id="15" name="그룹 4">
            <a:extLst>
              <a:ext uri="{FF2B5EF4-FFF2-40B4-BE49-F238E27FC236}">
                <a16:creationId xmlns:a16="http://schemas.microsoft.com/office/drawing/2014/main" id="{50596F3E-21E2-91A4-6CA9-3693719DF677}"/>
              </a:ext>
            </a:extLst>
          </p:cNvPr>
          <p:cNvGrpSpPr/>
          <p:nvPr/>
        </p:nvGrpSpPr>
        <p:grpSpPr>
          <a:xfrm>
            <a:off x="3951743" y="473130"/>
            <a:ext cx="68169" cy="611544"/>
            <a:chOff x="8714720" y="1683574"/>
            <a:chExt cx="68169" cy="611544"/>
          </a:xfrm>
        </p:grpSpPr>
        <p:sp>
          <p:nvSpPr>
            <p:cNvPr id="12" name="이등변 삼각형 6">
              <a:extLst>
                <a:ext uri="{FF2B5EF4-FFF2-40B4-BE49-F238E27FC236}">
                  <a16:creationId xmlns:a16="http://schemas.microsoft.com/office/drawing/2014/main" id="{116AD083-8602-D076-744E-FB3C0D15837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이등변 삼각형 20">
              <a:extLst>
                <a:ext uri="{FF2B5EF4-FFF2-40B4-BE49-F238E27FC236}">
                  <a16:creationId xmlns:a16="http://schemas.microsoft.com/office/drawing/2014/main" id="{09C7241E-8C6E-C376-481A-D5989424932A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" name="직선 연결선 24">
              <a:extLst>
                <a:ext uri="{FF2B5EF4-FFF2-40B4-BE49-F238E27FC236}">
                  <a16:creationId xmlns:a16="http://schemas.microsoft.com/office/drawing/2014/main" id="{AC92C263-27AB-308D-8AF7-1351C5B8D891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2375206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9410C-07D5-3E35-66A6-B9EAD4EB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A309634-A70A-6D34-9942-132778C30391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F79D0C1-A830-7B6D-286F-E516DD4971C0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분석 및 점검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6" name="그룹 4">
            <a:extLst>
              <a:ext uri="{FF2B5EF4-FFF2-40B4-BE49-F238E27FC236}">
                <a16:creationId xmlns:a16="http://schemas.microsoft.com/office/drawing/2014/main" id="{B1728518-2608-0CB7-7E35-C67C70EC600F}"/>
              </a:ext>
            </a:extLst>
          </p:cNvPr>
          <p:cNvGrpSpPr/>
          <p:nvPr/>
        </p:nvGrpSpPr>
        <p:grpSpPr>
          <a:xfrm>
            <a:off x="3951743" y="473130"/>
            <a:ext cx="68169" cy="611544"/>
            <a:chOff x="8714720" y="1683574"/>
            <a:chExt cx="68169" cy="611544"/>
          </a:xfrm>
        </p:grpSpPr>
        <p:sp>
          <p:nvSpPr>
            <p:cNvPr id="13" name="이등변 삼각형 6">
              <a:extLst>
                <a:ext uri="{FF2B5EF4-FFF2-40B4-BE49-F238E27FC236}">
                  <a16:creationId xmlns:a16="http://schemas.microsoft.com/office/drawing/2014/main" id="{7B72F5A2-E107-79FF-7380-A77D171F1897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이등변 삼각형 20">
              <a:extLst>
                <a:ext uri="{FF2B5EF4-FFF2-40B4-BE49-F238E27FC236}">
                  <a16:creationId xmlns:a16="http://schemas.microsoft.com/office/drawing/2014/main" id="{9DAE916E-2AAF-D93F-8877-7767F1A17BC5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24">
              <a:extLst>
                <a:ext uri="{FF2B5EF4-FFF2-40B4-BE49-F238E27FC236}">
                  <a16:creationId xmlns:a16="http://schemas.microsoft.com/office/drawing/2014/main" id="{B5253D2D-5209-8FB1-DDC1-BA2F687CCB48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568880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10F6D-DE80-F8F5-1661-6F5D59DAE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3C78135-0BF0-C7A9-DFA7-C5DC78BAF1C1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AEA9E8B-895F-45C1-57DF-180FA386F28B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11" name="그룹 60">
            <a:extLst>
              <a:ext uri="{FF2B5EF4-FFF2-40B4-BE49-F238E27FC236}">
                <a16:creationId xmlns:a16="http://schemas.microsoft.com/office/drawing/2014/main" id="{F0FFCE09-3A6D-3B66-6BFB-07C8F197DAAE}"/>
              </a:ext>
            </a:extLst>
          </p:cNvPr>
          <p:cNvGrpSpPr/>
          <p:nvPr/>
        </p:nvGrpSpPr>
        <p:grpSpPr>
          <a:xfrm>
            <a:off x="4664767" y="3073254"/>
            <a:ext cx="2898320" cy="861075"/>
            <a:chOff x="857051" y="2430923"/>
            <a:chExt cx="1795663" cy="520416"/>
          </a:xfrm>
        </p:grpSpPr>
        <p:sp>
          <p:nvSpPr>
            <p:cNvPr id="3" name="타원 26">
              <a:extLst>
                <a:ext uri="{FF2B5EF4-FFF2-40B4-BE49-F238E27FC236}">
                  <a16:creationId xmlns:a16="http://schemas.microsoft.com/office/drawing/2014/main" id="{00DCC0F8-8A8C-7D24-6872-0B5A6FE7013D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30">
              <a:extLst>
                <a:ext uri="{FF2B5EF4-FFF2-40B4-BE49-F238E27FC236}">
                  <a16:creationId xmlns:a16="http://schemas.microsoft.com/office/drawing/2014/main" id="{49530CC9-BE06-F0B4-DCA9-FBB598C650A0}"/>
                </a:ext>
              </a:extLst>
            </p:cNvPr>
            <p:cNvSpPr/>
            <p:nvPr/>
          </p:nvSpPr>
          <p:spPr>
            <a:xfrm>
              <a:off x="857051" y="2444196"/>
              <a:ext cx="478715" cy="40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>
                  <a:solidFill>
                    <a:prstClr val="white"/>
                  </a:solidFill>
                  <a:latin typeface="맑은 고딕"/>
                  <a:ea typeface="맑은 고딕"/>
                </a:rPr>
                <a:t>03</a:t>
              </a:r>
              <a:endParaRPr lang="en-US" altLang="ko-KR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9" name="직선 연결선 34">
              <a:extLst>
                <a:ext uri="{FF2B5EF4-FFF2-40B4-BE49-F238E27FC236}">
                  <a16:creationId xmlns:a16="http://schemas.microsoft.com/office/drawing/2014/main" id="{8FC59077-BD96-CBF9-9DF1-8A6C7F71BF96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10" name="직사각형 43">
              <a:extLst>
                <a:ext uri="{FF2B5EF4-FFF2-40B4-BE49-F238E27FC236}">
                  <a16:creationId xmlns:a16="http://schemas.microsoft.com/office/drawing/2014/main" id="{BE42BA75-D26E-EDB0-D7C1-7EE8EF295EC2}"/>
                </a:ext>
              </a:extLst>
            </p:cNvPr>
            <p:cNvSpPr/>
            <p:nvPr/>
          </p:nvSpPr>
          <p:spPr>
            <a:xfrm>
              <a:off x="1335766" y="2430923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2400" b="1">
                  <a:solidFill>
                    <a:prstClr val="white"/>
                  </a:solidFill>
                  <a:ea typeface="Noto Sans KR Black"/>
                </a:rPr>
                <a:t>개인 발표</a:t>
              </a:r>
              <a:endParaRPr lang="ko-KR" altLang="en-US" sz="2400" b="1" dirty="0">
                <a:solidFill>
                  <a:prstClr val="white"/>
                </a:solidFill>
                <a:ea typeface="Noto Sans KR Blac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2295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05B0-1E36-C9DD-9980-D42DA5A0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46EB799B-65CD-52C8-BD0A-C79E27BBEC4E}"/>
              </a:ext>
            </a:extLst>
          </p:cNvPr>
          <p:cNvGrpSpPr/>
          <p:nvPr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94A3A525-B5F4-9A83-1012-868C537A1E5A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EE03058B-753E-1B05-C4DA-4DAFACBEA084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서서</a:t>
              </a: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울 (PM)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0CDA36E3-778E-D355-6343-A6837555D59C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5D33736-B0DA-08DA-A965-F5C41088D7C0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담당 업무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7F01B2D8-6746-B279-9A1E-BD2E8BD11CE1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1334549F-F1DF-4C9B-3EFE-C0475D108D9D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F73445F5-72D6-BB1E-6FE3-97807CDDA908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328615F3-4AB0-8126-473E-D7E6E067B628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233647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CA35-352C-596E-F71F-D83DF7C4C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C1B1879E-2401-CE43-6B51-658A36ACBC7A}"/>
              </a:ext>
            </a:extLst>
          </p:cNvPr>
          <p:cNvGrpSpPr/>
          <p:nvPr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5E840FD6-A571-0746-E2AF-582F59B47E02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543BC076-C1FB-9908-2946-AA3F050C7762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서서</a:t>
              </a: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울 (PM)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07AC937B-E965-D795-B2C5-4E48F9BAFB20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A7166E3-8C1C-199F-530E-990A7803AB8F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트러블 슈팅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3E77ECE8-F728-B3F5-5ED1-3492F325135F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29D49CE1-702D-C1F5-DB3D-85A8D0E2671E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F77E9D43-B2B0-D4F7-D483-F91F2CCAB67E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65B7E920-2BBE-B0DA-67CE-894AD57C780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556509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C2BB6-7E35-BEC5-658F-C294516A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8C0B6609-9789-9056-E704-1B0F0CE8EA79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AB13266-92E9-DB97-498F-4AC6E7AD5923}"/>
              </a:ext>
            </a:extLst>
          </p:cNvPr>
          <p:cNvGrpSpPr/>
          <p:nvPr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81EB78F7-192A-68E9-8D4D-74057EF2D475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19AAAEE4-8642-47AD-4EE7-803B08D64369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윤철민​ </a:t>
              </a: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(PL)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D67041A-9FB9-852F-8344-944B8F4E50BC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담당 업무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967AB25C-D80C-4B17-1154-8D39743248E5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5D3DE6B2-49A5-3C91-8DB1-581857141B43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35A81EF4-A4B8-B817-BF77-C8558CFEF048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636B8931-ABCB-6608-498B-844790FE3534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472922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952C-C87C-F2D4-E15C-784DC867B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9D1C9DF-4F71-9E77-1728-A5C538552C53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3B5D787-39DB-C450-510F-89E580CC6D3D}"/>
              </a:ext>
            </a:extLst>
          </p:cNvPr>
          <p:cNvGrpSpPr/>
          <p:nvPr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E7A27DCD-88D2-E71D-9128-C4174A737CAD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BF12A178-D500-6BC3-1AA5-DBE80BC02094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윤철민​ </a:t>
              </a: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(PL)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1534C6A-54E6-6E67-750F-F45E7AD8E4B8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트러블 슈팅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98E971C3-671D-7515-3911-12B00026F1FE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6788E26D-27E9-D43C-D94B-44D7B8A7AF7E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2C6D1144-79FD-1941-1321-9F591D094466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40CAC754-E490-E13E-EDDD-96AF828802E7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242375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63C9A-424D-5A51-E984-A4AFE274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9A839CB9-8EDA-E16B-58A5-8A92277FA49E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968306B-6773-B782-B22D-C88EA041B5DE}"/>
              </a:ext>
            </a:extLst>
          </p:cNvPr>
          <p:cNvGrpSpPr/>
          <p:nvPr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AA7BC9BD-18F3-5709-EBD9-B170BD052A83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410E5FF1-98B4-33B6-A400-2CE31D895542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오명근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2389E00-E77D-B969-3F87-155A3756CD50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담당 업무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03778360-2623-A0F7-4AC4-FA43F94DD116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711D543E-4517-FE60-1213-3128EBB06336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D3DBA663-38AF-96BD-B4D3-4F7DD4336845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C3626CBC-D903-6A0A-ADDF-634C1338BA9D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130401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D63DB-38E4-47A4-D875-5E264EED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9A1C98BB-3A02-B46D-84F3-BADE5532EDF3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C812CA9-D67B-42BB-3E1D-BA89CE7A4EF3}"/>
              </a:ext>
            </a:extLst>
          </p:cNvPr>
          <p:cNvGrpSpPr/>
          <p:nvPr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D805FEF4-79B7-B0AD-7E63-274D7EB08109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7A8A9222-8354-EF50-C607-BAD68BDEE016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오명근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3ED2ADB-8130-BDC5-32E7-9C7FEF5252A4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트러블 슈팅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342EBD38-E61B-46E9-2A4A-FEE4F09CA667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30F62ECA-2FB0-C10C-4300-D81FF050C894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C7997DC2-6902-3216-03C7-A9264AC13D3E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D80C643F-056E-6336-1BC2-F0335076EB2B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492190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8FD2-C91C-40A8-DC73-A44C829D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0E9175C5-99B1-2AF4-CE51-2F16D22CE141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A1A7D7-90DB-1E91-4B13-F468EDB992AB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담당 업무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BC8C89E4-0B1C-EB0E-CA5B-0A208166007F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2DA3E429-7018-0D2E-A6CB-85FC3676DE55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6D349668-5D17-5595-4213-B2EF981A28F1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28434CFC-F6AA-AA74-7201-94D83EFC6BAC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9C3C2BC-2419-8D8B-1D5C-E4A6DFB4BCDD}"/>
              </a:ext>
            </a:extLst>
          </p:cNvPr>
          <p:cNvGrpSpPr/>
          <p:nvPr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5" name="직선 연결선 12">
              <a:extLst>
                <a:ext uri="{FF2B5EF4-FFF2-40B4-BE49-F238E27FC236}">
                  <a16:creationId xmlns:a16="http://schemas.microsoft.com/office/drawing/2014/main" id="{C226FF45-60BC-5313-04C8-D50F425D69B3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43">
              <a:extLst>
                <a:ext uri="{FF2B5EF4-FFF2-40B4-BE49-F238E27FC236}">
                  <a16:creationId xmlns:a16="http://schemas.microsoft.com/office/drawing/2014/main" id="{1FC02724-3F41-115C-022D-F9B0B4B2DD79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서정원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6559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9B497-EB6F-92C5-08E2-D19E4A478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18C151A7-A661-BF4E-B9D5-9F67915E53AF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43F2699-03C6-3F15-D1F4-D3B554145B41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트러블 슈팅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12A58A6B-3BF1-A2D6-FC8D-C108A09BF051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BE859A20-5E75-503A-83F4-37C358E201B0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DA991562-1AA6-7647-7643-72E741E15898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DA06CC0B-2214-491D-D473-109EEEF6BD01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E3050B4-F989-189D-EBFF-BA2B27D20FE9}"/>
              </a:ext>
            </a:extLst>
          </p:cNvPr>
          <p:cNvGrpSpPr/>
          <p:nvPr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3" name="직선 연결선 12">
              <a:extLst>
                <a:ext uri="{FF2B5EF4-FFF2-40B4-BE49-F238E27FC236}">
                  <a16:creationId xmlns:a16="http://schemas.microsoft.com/office/drawing/2014/main" id="{0FAFCE8D-9DD5-7828-1F7C-FF2AEDAD663D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3">
              <a:extLst>
                <a:ext uri="{FF2B5EF4-FFF2-40B4-BE49-F238E27FC236}">
                  <a16:creationId xmlns:a16="http://schemas.microsoft.com/office/drawing/2014/main" id="{0BF54288-EBCF-5664-E8F9-5A1EE478059E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서정원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3905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DBD8-00A3-9972-3011-2641EE3C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D6F6E37-7637-E941-7690-108EB13C2024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F8FFC44-4598-ECA2-D9AE-B8CDB33A470F}"/>
              </a:ext>
            </a:extLst>
          </p:cNvPr>
          <p:cNvGrpSpPr/>
          <p:nvPr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21088714-BEA4-1A20-CAEB-5E2E260A996E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0E31CC4A-898E-E1C6-A23F-F3C225ECCFDA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이주환​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8BF869B-C46B-F42A-D397-C34348C71D3A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담당 업무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DEF3DA7C-B626-AC4C-FE84-C3641F52B587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B869BFD3-FC3A-2771-3E6F-DBCAF7D3B6B0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41924E6B-22E3-521D-1CAB-DC0A65859233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28AD1E7B-4CC6-7EAC-2BFB-F669E0FB17FF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257124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3D41-D737-3B03-32E6-7D25CEBB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A4175EC6-AD3C-4201-3EBA-661DAF314345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40725AC-A6EF-146F-F194-1A8B01995DE7}"/>
              </a:ext>
            </a:extLst>
          </p:cNvPr>
          <p:cNvGrpSpPr/>
          <p:nvPr/>
        </p:nvGrpSpPr>
        <p:grpSpPr>
          <a:xfrm>
            <a:off x="871876" y="1587184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329ED0DE-16AF-1632-5597-0825B4057A82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A6AEC5A8-0547-A4CD-C1DB-4A774A85BF11}"/>
                </a:ext>
              </a:extLst>
            </p:cNvPr>
            <p:cNvSpPr/>
            <p:nvPr/>
          </p:nvSpPr>
          <p:spPr>
            <a:xfrm>
              <a:off x="945791" y="1828715"/>
              <a:ext cx="2354059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이주환​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FF687F2-B593-CC13-C352-65C36F60EB7A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트러블 슈팅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FF98B621-2167-5E11-78B7-D66A6C1A9171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D2B0EA27-C019-E5D8-DCE1-7874C137E32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015200E6-0A6D-C5CD-0135-7F200DD3F872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70B99FDE-D5FE-709D-6738-6FC6D3F5E2EE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159005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1C836-2172-2409-9C29-3ADD3349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541FA09-6135-4A6D-D39F-250765BB8C62}"/>
              </a:ext>
            </a:extLst>
          </p:cNvPr>
          <p:cNvGrpSpPr/>
          <p:nvPr/>
        </p:nvGrpSpPr>
        <p:grpSpPr>
          <a:xfrm>
            <a:off x="865513" y="5957474"/>
            <a:ext cx="1392461" cy="219441"/>
            <a:chOff x="748985" y="1833862"/>
            <a:chExt cx="2753586" cy="263914"/>
          </a:xfrm>
        </p:grpSpPr>
        <p:cxnSp>
          <p:nvCxnSpPr>
            <p:cNvPr id="114" name="직선 연결선 12">
              <a:extLst>
                <a:ext uri="{FF2B5EF4-FFF2-40B4-BE49-F238E27FC236}">
                  <a16:creationId xmlns:a16="http://schemas.microsoft.com/office/drawing/2014/main" id="{AE897AB9-2479-3A1F-7378-402F95930C2A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직사각형 43">
              <a:extLst>
                <a:ext uri="{FF2B5EF4-FFF2-40B4-BE49-F238E27FC236}">
                  <a16:creationId xmlns:a16="http://schemas.microsoft.com/office/drawing/2014/main" id="{83EA8F88-78AB-79EB-3425-3F9DFE3F0D65}"/>
                </a:ext>
              </a:extLst>
            </p:cNvPr>
            <p:cNvSpPr/>
            <p:nvPr/>
          </p:nvSpPr>
          <p:spPr>
            <a:xfrm>
              <a:off x="1447620" y="1833862"/>
              <a:ext cx="1342038" cy="263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이주환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025FE2B-2506-FD63-B666-A5A6FF47F396}"/>
              </a:ext>
            </a:extLst>
          </p:cNvPr>
          <p:cNvGrpSpPr/>
          <p:nvPr/>
        </p:nvGrpSpPr>
        <p:grpSpPr>
          <a:xfrm>
            <a:off x="871037" y="4917569"/>
            <a:ext cx="1392461" cy="223721"/>
            <a:chOff x="748985" y="1844161"/>
            <a:chExt cx="2753586" cy="269061"/>
          </a:xfrm>
        </p:grpSpPr>
        <p:cxnSp>
          <p:nvCxnSpPr>
            <p:cNvPr id="3" name="직선 연결선 12">
              <a:extLst>
                <a:ext uri="{FF2B5EF4-FFF2-40B4-BE49-F238E27FC236}">
                  <a16:creationId xmlns:a16="http://schemas.microsoft.com/office/drawing/2014/main" id="{609A3324-AF7B-4146-3651-6683868ED620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3">
              <a:extLst>
                <a:ext uri="{FF2B5EF4-FFF2-40B4-BE49-F238E27FC236}">
                  <a16:creationId xmlns:a16="http://schemas.microsoft.com/office/drawing/2014/main" id="{46C29382-2615-98B7-880A-D0085D638B44}"/>
                </a:ext>
              </a:extLst>
            </p:cNvPr>
            <p:cNvSpPr/>
            <p:nvPr/>
          </p:nvSpPr>
          <p:spPr>
            <a:xfrm>
              <a:off x="1455983" y="1844161"/>
              <a:ext cx="1359764" cy="2690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서정원</a:t>
              </a:r>
              <a:endParaRPr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CE01C50-DA64-95A3-FC3E-D1C0A5ABAB89}"/>
              </a:ext>
            </a:extLst>
          </p:cNvPr>
          <p:cNvGrpSpPr/>
          <p:nvPr/>
        </p:nvGrpSpPr>
        <p:grpSpPr>
          <a:xfrm>
            <a:off x="871037" y="3877664"/>
            <a:ext cx="1392461" cy="223721"/>
            <a:chOff x="748985" y="1844161"/>
            <a:chExt cx="2753586" cy="269061"/>
          </a:xfrm>
        </p:grpSpPr>
        <p:cxnSp>
          <p:nvCxnSpPr>
            <p:cNvPr id="108" name="직선 연결선 12">
              <a:extLst>
                <a:ext uri="{FF2B5EF4-FFF2-40B4-BE49-F238E27FC236}">
                  <a16:creationId xmlns:a16="http://schemas.microsoft.com/office/drawing/2014/main" id="{E0138D93-5196-63C3-AFDC-F6A4804F4394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직사각형 43">
              <a:extLst>
                <a:ext uri="{FF2B5EF4-FFF2-40B4-BE49-F238E27FC236}">
                  <a16:creationId xmlns:a16="http://schemas.microsoft.com/office/drawing/2014/main" id="{91B2BA17-07B2-A9AA-3A57-818DE8DFA76E}"/>
                </a:ext>
              </a:extLst>
            </p:cNvPr>
            <p:cNvSpPr/>
            <p:nvPr/>
          </p:nvSpPr>
          <p:spPr>
            <a:xfrm>
              <a:off x="1455984" y="1844161"/>
              <a:ext cx="1342038" cy="2690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오명근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280ECA1-D4B7-093B-E4CF-F48ACD7A1BD0}"/>
              </a:ext>
            </a:extLst>
          </p:cNvPr>
          <p:cNvGrpSpPr/>
          <p:nvPr/>
        </p:nvGrpSpPr>
        <p:grpSpPr>
          <a:xfrm>
            <a:off x="871457" y="2783971"/>
            <a:ext cx="1392461" cy="275090"/>
            <a:chOff x="748985" y="1828715"/>
            <a:chExt cx="2753586" cy="330841"/>
          </a:xfrm>
        </p:grpSpPr>
        <p:cxnSp>
          <p:nvCxnSpPr>
            <p:cNvPr id="104" name="직선 연결선 12">
              <a:extLst>
                <a:ext uri="{FF2B5EF4-FFF2-40B4-BE49-F238E27FC236}">
                  <a16:creationId xmlns:a16="http://schemas.microsoft.com/office/drawing/2014/main" id="{CE90D13F-93DB-12DE-29A5-E007AEC66779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직사각형 43">
              <a:extLst>
                <a:ext uri="{FF2B5EF4-FFF2-40B4-BE49-F238E27FC236}">
                  <a16:creationId xmlns:a16="http://schemas.microsoft.com/office/drawing/2014/main" id="{B46162BB-DFC2-8435-ABE5-F14C9069523E}"/>
                </a:ext>
              </a:extLst>
            </p:cNvPr>
            <p:cNvSpPr/>
            <p:nvPr/>
          </p:nvSpPr>
          <p:spPr>
            <a:xfrm>
              <a:off x="1130507" y="1828715"/>
              <a:ext cx="2187087" cy="330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윤철</a:t>
              </a: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민 (PL)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3B1924F-B3CB-1618-E72F-DBD1B8CE7007}"/>
              </a:ext>
            </a:extLst>
          </p:cNvPr>
          <p:cNvGrpSpPr/>
          <p:nvPr/>
        </p:nvGrpSpPr>
        <p:grpSpPr>
          <a:xfrm>
            <a:off x="871876" y="1712690"/>
            <a:ext cx="1392461" cy="253686"/>
            <a:chOff x="748985" y="1828715"/>
            <a:chExt cx="2753586" cy="305099"/>
          </a:xfrm>
        </p:grpSpPr>
        <p:cxnSp>
          <p:nvCxnSpPr>
            <p:cNvPr id="98" name="직선 연결선 12">
              <a:extLst>
                <a:ext uri="{FF2B5EF4-FFF2-40B4-BE49-F238E27FC236}">
                  <a16:creationId xmlns:a16="http://schemas.microsoft.com/office/drawing/2014/main" id="{22D8F53B-46A2-1377-4AB5-17B03058D3F7}"/>
                </a:ext>
              </a:extLst>
            </p:cNvPr>
            <p:cNvCxnSpPr>
              <a:cxnSpLocks/>
            </p:cNvCxnSpPr>
            <p:nvPr/>
          </p:nvCxnSpPr>
          <p:spPr>
            <a:xfrm>
              <a:off x="748985" y="2078750"/>
              <a:ext cx="2753586" cy="5329"/>
            </a:xfrm>
            <a:prstGeom prst="line">
              <a:avLst/>
            </a:prstGeom>
            <a:ln w="533400" cap="rnd">
              <a:solidFill>
                <a:srgbClr val="373E54"/>
              </a:solidFill>
            </a:ln>
            <a:scene3d>
              <a:camera prst="orthographicFront"/>
              <a:lightRig rig="threePt" dir="t">
                <a:rot lat="0" lon="0" rev="7800000"/>
              </a:lightRig>
            </a:scene3d>
            <a:sp3d prstMaterial="clear">
              <a:bevelT w="285750" h="13335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43">
              <a:extLst>
                <a:ext uri="{FF2B5EF4-FFF2-40B4-BE49-F238E27FC236}">
                  <a16:creationId xmlns:a16="http://schemas.microsoft.com/office/drawing/2014/main" id="{5B986F14-6173-2B63-5904-8425CD701491}"/>
                </a:ext>
              </a:extLst>
            </p:cNvPr>
            <p:cNvSpPr/>
            <p:nvPr/>
          </p:nvSpPr>
          <p:spPr>
            <a:xfrm>
              <a:off x="945792" y="1828715"/>
              <a:ext cx="2354058" cy="305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서서</a:t>
              </a:r>
              <a:r>
                <a:rPr lang="ko-KR" altLang="en-US" sz="1400" b="1">
                  <a:solidFill>
                    <a:schemeClr val="tx1"/>
                  </a:solidFill>
                  <a:latin typeface="Noto Sans KR Black" panose="020B0200000000000000" pitchFamily="50" charset="-127"/>
                  <a:ea typeface="Noto Sans KR Black"/>
                </a:rPr>
                <a:t>울 (PM)</a:t>
              </a:r>
              <a:endParaRPr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DC2140E-6749-A235-B668-FBA5EA851298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  <a:ea typeface="Noto Sans KR Black"/>
              </a:rPr>
              <a:t>프로젝트 후 느낀 점</a:t>
            </a:r>
            <a:endParaRPr lang="ko-KR" altLang="en-US" sz="2000" b="1" dirty="0">
              <a:solidFill>
                <a:schemeClr val="bg1"/>
              </a:solidFill>
              <a:ea typeface="Noto Sans KR Black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48E9E8C-134C-0C9A-98A8-977DAC09B729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" name="그룹 4">
            <a:extLst>
              <a:ext uri="{FF2B5EF4-FFF2-40B4-BE49-F238E27FC236}">
                <a16:creationId xmlns:a16="http://schemas.microsoft.com/office/drawing/2014/main" id="{467C74BE-07D5-BF0F-0774-2A6255D73F2F}"/>
              </a:ext>
            </a:extLst>
          </p:cNvPr>
          <p:cNvGrpSpPr/>
          <p:nvPr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0" name="이등변 삼각형 6">
              <a:extLst>
                <a:ext uri="{FF2B5EF4-FFF2-40B4-BE49-F238E27FC236}">
                  <a16:creationId xmlns:a16="http://schemas.microsoft.com/office/drawing/2014/main" id="{724ADDC9-C1D0-D977-C99C-5893A944962E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이등변 삼각형 20">
              <a:extLst>
                <a:ext uri="{FF2B5EF4-FFF2-40B4-BE49-F238E27FC236}">
                  <a16:creationId xmlns:a16="http://schemas.microsoft.com/office/drawing/2014/main" id="{4E108657-197A-C76B-1AAE-5E392633481C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24">
              <a:extLst>
                <a:ext uri="{FF2B5EF4-FFF2-40B4-BE49-F238E27FC236}">
                  <a16:creationId xmlns:a16="http://schemas.microsoft.com/office/drawing/2014/main" id="{0C2C731D-63E5-B5D6-7B50-FC55FEBCC8D9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8" name="직사각형 82">
            <a:extLst>
              <a:ext uri="{FF2B5EF4-FFF2-40B4-BE49-F238E27FC236}">
                <a16:creationId xmlns:a16="http://schemas.microsoft.com/office/drawing/2014/main" id="{3E575948-8F72-63EE-E107-AE993249850C}"/>
              </a:ext>
            </a:extLst>
          </p:cNvPr>
          <p:cNvSpPr/>
          <p:nvPr/>
        </p:nvSpPr>
        <p:spPr>
          <a:xfrm>
            <a:off x="2690268" y="1683158"/>
            <a:ext cx="8331425" cy="65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 각자가 작성 예정입니다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6" name="직사각형 82">
            <a:extLst>
              <a:ext uri="{FF2B5EF4-FFF2-40B4-BE49-F238E27FC236}">
                <a16:creationId xmlns:a16="http://schemas.microsoft.com/office/drawing/2014/main" id="{0AAE9FB6-D4A4-709F-11D5-6B5C4AB828FC}"/>
              </a:ext>
            </a:extLst>
          </p:cNvPr>
          <p:cNvSpPr/>
          <p:nvPr/>
        </p:nvSpPr>
        <p:spPr>
          <a:xfrm>
            <a:off x="2690268" y="2732028"/>
            <a:ext cx="8331425" cy="65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 각자가 작성 예정입니다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8" name="직사각형 82">
            <a:extLst>
              <a:ext uri="{FF2B5EF4-FFF2-40B4-BE49-F238E27FC236}">
                <a16:creationId xmlns:a16="http://schemas.microsoft.com/office/drawing/2014/main" id="{34F48D54-5FD0-55E3-4E88-7D6168DA5E25}"/>
              </a:ext>
            </a:extLst>
          </p:cNvPr>
          <p:cNvSpPr/>
          <p:nvPr/>
        </p:nvSpPr>
        <p:spPr>
          <a:xfrm>
            <a:off x="2690267" y="3776416"/>
            <a:ext cx="8331425" cy="65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 각자가 작성 예정입니다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9" name="직사각형 82">
            <a:extLst>
              <a:ext uri="{FF2B5EF4-FFF2-40B4-BE49-F238E27FC236}">
                <a16:creationId xmlns:a16="http://schemas.microsoft.com/office/drawing/2014/main" id="{F6E86B5A-E462-87D5-C2CB-AF3A3AA18BE3}"/>
              </a:ext>
            </a:extLst>
          </p:cNvPr>
          <p:cNvSpPr/>
          <p:nvPr/>
        </p:nvSpPr>
        <p:spPr>
          <a:xfrm>
            <a:off x="2690267" y="4816322"/>
            <a:ext cx="8331425" cy="65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 각자가 작성 예정입니다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20" name="직사각형 82">
            <a:extLst>
              <a:ext uri="{FF2B5EF4-FFF2-40B4-BE49-F238E27FC236}">
                <a16:creationId xmlns:a16="http://schemas.microsoft.com/office/drawing/2014/main" id="{0FBFF725-6183-7C97-478E-7D7654F9483B}"/>
              </a:ext>
            </a:extLst>
          </p:cNvPr>
          <p:cNvSpPr/>
          <p:nvPr/>
        </p:nvSpPr>
        <p:spPr>
          <a:xfrm>
            <a:off x="2690268" y="5851746"/>
            <a:ext cx="8331425" cy="652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 각자가 작성 예정입니다</a:t>
            </a: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502863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9B3A8-12CA-6345-AAD7-18196E13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28AE58C6-4C8D-98C9-454D-0DD925222376}"/>
              </a:ext>
            </a:extLst>
          </p:cNvPr>
          <p:cNvSpPr/>
          <p:nvPr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ADDD190-EC7B-F88F-F51F-66382A035A46}"/>
              </a:ext>
            </a:extLst>
          </p:cNvPr>
          <p:cNvSpPr/>
          <p:nvPr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C37A320-BF77-81CA-C597-C76ED4967A48}"/>
              </a:ext>
            </a:extLst>
          </p:cNvPr>
          <p:cNvGrpSpPr/>
          <p:nvPr/>
        </p:nvGrpSpPr>
        <p:grpSpPr>
          <a:xfrm>
            <a:off x="11679320" y="473130"/>
            <a:ext cx="68169" cy="611544"/>
            <a:chOff x="8714720" y="1683574"/>
            <a:chExt cx="68169" cy="611544"/>
          </a:xfrm>
        </p:grpSpPr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9AD6CA02-58F0-35D6-3346-11362F70ECCC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3AA5F560-A896-F1C4-B353-6DF3F536772C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268DE56-7158-39CA-6280-8A330E9BB92E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11" name="그룹 60">
            <a:extLst>
              <a:ext uri="{FF2B5EF4-FFF2-40B4-BE49-F238E27FC236}">
                <a16:creationId xmlns:a16="http://schemas.microsoft.com/office/drawing/2014/main" id="{6CEECB89-9B78-D950-8391-773F80C7EE32}"/>
              </a:ext>
            </a:extLst>
          </p:cNvPr>
          <p:cNvGrpSpPr/>
          <p:nvPr/>
        </p:nvGrpSpPr>
        <p:grpSpPr>
          <a:xfrm>
            <a:off x="4664767" y="3073254"/>
            <a:ext cx="2898320" cy="861075"/>
            <a:chOff x="857051" y="2430923"/>
            <a:chExt cx="1795663" cy="520416"/>
          </a:xfrm>
        </p:grpSpPr>
        <p:sp>
          <p:nvSpPr>
            <p:cNvPr id="3" name="타원 26">
              <a:extLst>
                <a:ext uri="{FF2B5EF4-FFF2-40B4-BE49-F238E27FC236}">
                  <a16:creationId xmlns:a16="http://schemas.microsoft.com/office/drawing/2014/main" id="{3A314166-C341-856B-4BE1-A11C4F5D40B2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30">
              <a:extLst>
                <a:ext uri="{FF2B5EF4-FFF2-40B4-BE49-F238E27FC236}">
                  <a16:creationId xmlns:a16="http://schemas.microsoft.com/office/drawing/2014/main" id="{BC88327E-8C53-704B-1AD6-60A0CBF205AE}"/>
                </a:ext>
              </a:extLst>
            </p:cNvPr>
            <p:cNvSpPr/>
            <p:nvPr/>
          </p:nvSpPr>
          <p:spPr>
            <a:xfrm>
              <a:off x="857051" y="2444196"/>
              <a:ext cx="478715" cy="40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800" b="1">
                  <a:solidFill>
                    <a:prstClr val="white"/>
                  </a:solidFill>
                  <a:latin typeface="맑은 고딕"/>
                  <a:ea typeface="맑은 고딕"/>
                </a:rPr>
                <a:t>04</a:t>
              </a:r>
              <a:endParaRPr lang="en-US" altLang="ko-KR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9" name="직선 연결선 34">
              <a:extLst>
                <a:ext uri="{FF2B5EF4-FFF2-40B4-BE49-F238E27FC236}">
                  <a16:creationId xmlns:a16="http://schemas.microsoft.com/office/drawing/2014/main" id="{FF1DB5B3-D1F1-E5B5-DA1B-689ACAA3BF82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10" name="직사각형 43">
              <a:extLst>
                <a:ext uri="{FF2B5EF4-FFF2-40B4-BE49-F238E27FC236}">
                  <a16:creationId xmlns:a16="http://schemas.microsoft.com/office/drawing/2014/main" id="{B87F0E91-DA23-6327-AFF0-6FBF730EB5EB}"/>
                </a:ext>
              </a:extLst>
            </p:cNvPr>
            <p:cNvSpPr/>
            <p:nvPr/>
          </p:nvSpPr>
          <p:spPr>
            <a:xfrm>
              <a:off x="1335766" y="2430923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2400" b="1">
                  <a:solidFill>
                    <a:prstClr val="white"/>
                  </a:solidFill>
                  <a:ea typeface="Noto Sans KR Black"/>
                </a:rPr>
                <a:t>Q &amp; A</a:t>
              </a:r>
              <a:endParaRPr lang="ko-KR" altLang="en-US" sz="2400" b="1" dirty="0">
                <a:solidFill>
                  <a:prstClr val="white"/>
                </a:solidFill>
                <a:ea typeface="Noto Sans KR Blac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5579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D563B-CA09-7FCB-F46E-CB0983F96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DE97B40-996B-7CE7-690F-C1746EC137F3}"/>
              </a:ext>
            </a:extLst>
          </p:cNvPr>
          <p:cNvSpPr/>
          <p:nvPr/>
        </p:nvSpPr>
        <p:spPr>
          <a:xfrm>
            <a:off x="2652325" y="1967252"/>
            <a:ext cx="6908166" cy="2458244"/>
          </a:xfrm>
          <a:prstGeom prst="roundRect">
            <a:avLst>
              <a:gd name="adj" fmla="val 12534"/>
            </a:avLst>
          </a:prstGeom>
          <a:noFill/>
          <a:ln w="403225">
            <a:solidFill>
              <a:schemeClr val="bg1"/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E81ECB4-A78C-6CD9-10B6-9E526AB7C32E}"/>
              </a:ext>
            </a:extLst>
          </p:cNvPr>
          <p:cNvCxnSpPr/>
          <p:nvPr/>
        </p:nvCxnSpPr>
        <p:spPr>
          <a:xfrm>
            <a:off x="4140200" y="1971183"/>
            <a:ext cx="288000" cy="0"/>
          </a:xfrm>
          <a:prstGeom prst="line">
            <a:avLst/>
          </a:prstGeom>
          <a:ln w="238125" cap="rnd"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matte">
            <a:bevelT w="4000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5B028A1-5CDD-86A8-9FAB-90580C213F18}"/>
              </a:ext>
            </a:extLst>
          </p:cNvPr>
          <p:cNvSpPr txBox="1"/>
          <p:nvPr/>
        </p:nvSpPr>
        <p:spPr>
          <a:xfrm>
            <a:off x="3048000" y="2782841"/>
            <a:ext cx="6096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3600" dirty="0" err="1">
                <a:solidFill>
                  <a:schemeClr val="bg1"/>
                </a:solidFill>
                <a:latin typeface="Cambria Math"/>
                <a:ea typeface="Noto Sans KR Black"/>
              </a:rPr>
              <a:t>감사합니다</a:t>
            </a:r>
            <a:r>
              <a:rPr lang="en-US" altLang="ko-KR" sz="3600" dirty="0">
                <a:solidFill>
                  <a:schemeClr val="bg1"/>
                </a:solidFill>
                <a:latin typeface="Cambria Math"/>
                <a:ea typeface="Noto Sans KR Black"/>
              </a:rPr>
              <a:t>.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7ED287E-A508-95CE-0F96-1DFB43EB9051}"/>
              </a:ext>
            </a:extLst>
          </p:cNvPr>
          <p:cNvGrpSpPr/>
          <p:nvPr/>
        </p:nvGrpSpPr>
        <p:grpSpPr>
          <a:xfrm>
            <a:off x="9395072" y="1985697"/>
            <a:ext cx="219074" cy="219074"/>
            <a:chOff x="9523433" y="2485729"/>
            <a:chExt cx="219074" cy="21907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EBB29CD-F02F-94D3-450C-C855A511F082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573E9CB-F377-E375-8867-50DADC0C630E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C6845DF-BB87-F56D-9EFA-0CF52F3A72F4}"/>
              </a:ext>
            </a:extLst>
          </p:cNvPr>
          <p:cNvGrpSpPr/>
          <p:nvPr/>
        </p:nvGrpSpPr>
        <p:grpSpPr>
          <a:xfrm>
            <a:off x="9395072" y="4138347"/>
            <a:ext cx="219074" cy="219074"/>
            <a:chOff x="9523433" y="2485729"/>
            <a:chExt cx="219074" cy="219074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8155850-056F-762B-AA69-46DF003B3AD6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4E7DD6D-A6CA-FE22-D977-AB448B88A807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945DCE8-8319-939A-15A3-251C1847A86A}"/>
              </a:ext>
            </a:extLst>
          </p:cNvPr>
          <p:cNvGrpSpPr/>
          <p:nvPr/>
        </p:nvGrpSpPr>
        <p:grpSpPr>
          <a:xfrm>
            <a:off x="2594269" y="1985697"/>
            <a:ext cx="219074" cy="219074"/>
            <a:chOff x="9523433" y="2485729"/>
            <a:chExt cx="219074" cy="219074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B9BAE336-1C5D-58E2-89E0-BCFCFD2F8003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572B9B9C-395F-94C8-60E5-535A08E7B7A6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05AA10C-70C9-72BD-6291-38B0980E0C34}"/>
              </a:ext>
            </a:extLst>
          </p:cNvPr>
          <p:cNvGrpSpPr/>
          <p:nvPr/>
        </p:nvGrpSpPr>
        <p:grpSpPr>
          <a:xfrm>
            <a:off x="2594269" y="4138347"/>
            <a:ext cx="219074" cy="219074"/>
            <a:chOff x="9523433" y="2485729"/>
            <a:chExt cx="219074" cy="219074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2FC1F52-900F-2D9F-F54A-ADE2CBF52EAD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A1E7908-5E39-6B81-C957-C2B28AEA3619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67CC02CC-3994-4D25-DB32-7C03BEEC9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186" y="584986"/>
            <a:ext cx="1148711" cy="11487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4E8075-9BE2-CBD0-C398-D5945649E64C}"/>
              </a:ext>
            </a:extLst>
          </p:cNvPr>
          <p:cNvSpPr txBox="1"/>
          <p:nvPr/>
        </p:nvSpPr>
        <p:spPr>
          <a:xfrm>
            <a:off x="4810125" y="5237153"/>
            <a:ext cx="2571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서서울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| </a:t>
            </a:r>
            <a:r>
              <a:rPr lang="ko-KR" altLang="en-US" sz="1100" dirty="0" err="1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윤철민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오명근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서정원</a:t>
            </a:r>
            <a:r>
              <a:rPr lang="en-US" altLang="ko-KR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Cambria Math" panose="02040503050406030204" pitchFamily="18" charset="0"/>
                <a:ea typeface="Noto Sans KR" panose="020B0200000000000000" pitchFamily="50" charset="-127"/>
              </a:rPr>
              <a:t>이주환</a:t>
            </a:r>
            <a:endParaRPr lang="en-US" altLang="ko-KR" sz="1100" dirty="0">
              <a:solidFill>
                <a:schemeClr val="bg1"/>
              </a:solidFill>
              <a:latin typeface="Cambria Math" panose="02040503050406030204" pitchFamily="18" charset="0"/>
              <a:ea typeface="Noto Sans KR" panose="020B0200000000000000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98F6809-507F-F336-5EEA-E924F31A7A7D}"/>
              </a:ext>
            </a:extLst>
          </p:cNvPr>
          <p:cNvGrpSpPr/>
          <p:nvPr/>
        </p:nvGrpSpPr>
        <p:grpSpPr>
          <a:xfrm>
            <a:off x="8714720" y="1683574"/>
            <a:ext cx="68169" cy="611544"/>
            <a:chOff x="8714720" y="1683574"/>
            <a:chExt cx="68169" cy="611544"/>
          </a:xfrm>
        </p:grpSpPr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E611BA27-E12F-0502-DCDE-0E6EF50D55CA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2749B5CF-D96D-1F08-5AED-1785F75FEFB7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D084BC68-59EF-D2CD-4FC5-454E33D97395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26108570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610</Words>
  <Application>Microsoft Office PowerPoint</Application>
  <PresentationFormat>Widescreen</PresentationFormat>
  <Paragraphs>205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1_Office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현석 조</dc:creator>
  <cp:lastModifiedBy>서서울</cp:lastModifiedBy>
  <cp:revision>830</cp:revision>
  <dcterms:created xsi:type="dcterms:W3CDTF">2025-06-07T02:26:22Z</dcterms:created>
  <dcterms:modified xsi:type="dcterms:W3CDTF">2026-06-28T12:04:46Z</dcterms:modified>
</cp:coreProperties>
</file>